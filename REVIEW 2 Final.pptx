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43" r:id="rId1"/>
  </p:sldMasterIdLst>
  <p:notesMasterIdLst>
    <p:notesMasterId r:id="rId12"/>
  </p:notesMasterIdLst>
  <p:sldIdLst>
    <p:sldId id="257" r:id="rId2"/>
    <p:sldId id="258" r:id="rId3"/>
    <p:sldId id="259" r:id="rId4"/>
    <p:sldId id="260" r:id="rId5"/>
    <p:sldId id="267" r:id="rId6"/>
    <p:sldId id="261" r:id="rId7"/>
    <p:sldId id="263" r:id="rId8"/>
    <p:sldId id="262" r:id="rId9"/>
    <p:sldId id="266"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100" d="100"/>
          <a:sy n="100" d="100"/>
        </p:scale>
        <p:origin x="5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778238-5C3F-456D-AB3D-66172ABF1CEB}"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FAA946-7E32-410A-BDD5-591DF8BA2578}" type="slidenum">
              <a:rPr lang="en-US" smtClean="0"/>
              <a:t>‹#›</a:t>
            </a:fld>
            <a:endParaRPr lang="en-US"/>
          </a:p>
        </p:txBody>
      </p:sp>
    </p:spTree>
    <p:extLst>
      <p:ext uri="{BB962C8B-B14F-4D97-AF65-F5344CB8AC3E}">
        <p14:creationId xmlns:p14="http://schemas.microsoft.com/office/powerpoint/2010/main" val="4117003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pitch, then say a working prototype runs today and can be shown live. Agenda in one breath: the problem, our fix, what is built, what comes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 timing problem, not a detection problem. Detecting an ambulance was solved decades ago; deciding when to act, and on which route, was not.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panel asks only one technical question, it will be about safety. Point at the last line: the learned parts propose, the state machine disposes.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live demo here. If the projector cooperates, switch to the browser for thirty seconds and inject the accident.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8B7A4-F48D-1769-7FE3-7EB962859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CAF3DF-D846-CA59-9419-9BBAC02213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BFA277-AB2B-9E06-83BD-7258B20E46B9}"/>
              </a:ext>
            </a:extLst>
          </p:cNvPr>
          <p:cNvSpPr>
            <a:spLocks noGrp="1"/>
          </p:cNvSpPr>
          <p:nvPr>
            <p:ph type="body" idx="1"/>
          </p:nvPr>
        </p:nvSpPr>
        <p:spPr/>
        <p:txBody>
          <a:bodyPr/>
          <a:lstStyle/>
          <a:p>
            <a:r>
              <a:rPr lang="en-US" dirty="0"/>
              <a:t>Offer the live demo here. If the projector cooperates, switch to the browser for thirty seconds and inject the accident.</a:t>
            </a:r>
          </a:p>
        </p:txBody>
      </p:sp>
      <p:sp>
        <p:nvSpPr>
          <p:cNvPr id="4" name="Slide Number Placeholder 3">
            <a:extLst>
              <a:ext uri="{FF2B5EF4-FFF2-40B4-BE49-F238E27FC236}">
                <a16:creationId xmlns:a16="http://schemas.microsoft.com/office/drawing/2014/main" id="{7710A886-8ED4-28AE-E180-597F2B46D38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2630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scenario justifies the whole design: the second input exists precisely because the first one is stale.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who owns which modules, so the panel knows whom to question. Each member answers only for their own area.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caveat out loud. Claiming Chennai results we have not measured is the fastest way to lose credibility with a panel.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2E0F-019D-9677-49F7-81C9FE3BC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EF304-6FAD-6ABE-31ED-7D1186303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400C8D-4302-7EC9-47EB-485AECEBA386}"/>
              </a:ext>
            </a:extLst>
          </p:cNvPr>
          <p:cNvSpPr>
            <a:spLocks noGrp="1"/>
          </p:cNvSpPr>
          <p:nvPr>
            <p:ph type="body" idx="1"/>
          </p:nvPr>
        </p:nvSpPr>
        <p:spPr/>
        <p:txBody>
          <a:bodyPr/>
          <a:lstStyle/>
          <a:p>
            <a:r>
              <a:rPr lang="en-US" dirty="0"/>
              <a:t>Close by naming who owns which modules, so the panel knows whom to question. Each member answers only for their own area.</a:t>
            </a:r>
          </a:p>
        </p:txBody>
      </p:sp>
      <p:sp>
        <p:nvSpPr>
          <p:cNvPr id="4" name="Slide Number Placeholder 3">
            <a:extLst>
              <a:ext uri="{FF2B5EF4-FFF2-40B4-BE49-F238E27FC236}">
                <a16:creationId xmlns:a16="http://schemas.microsoft.com/office/drawing/2014/main" id="{BA51A782-D22F-1BC9-9E3B-F0A5DAC4246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935835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questions. The recap column is a prompt for anything the panel asks you to repeat.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6434E095-DD35-4246-838C-143EDD51FBAF}" type="datetimeFigureOut">
              <a:rPr lang="en-US" smtClean="0"/>
              <a:t>9/23/2026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30903734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2796795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6434E095-DD35-4246-838C-143EDD51FBAF}" type="datetimeFigureOut">
              <a:rPr lang="en-US" smtClean="0"/>
              <a:t>9/23/2026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51460A25-9B25-4489-A4B2-350EBA186A62}" type="slidenum">
              <a:rPr lang="en-US" smtClean="0"/>
              <a:t>‹#›</a:t>
            </a:fld>
            <a:endParaRPr lang="en-US"/>
          </a:p>
        </p:txBody>
      </p:sp>
    </p:spTree>
    <p:extLst>
      <p:ext uri="{BB962C8B-B14F-4D97-AF65-F5344CB8AC3E}">
        <p14:creationId xmlns:p14="http://schemas.microsoft.com/office/powerpoint/2010/main" val="25534303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51460A25-9B25-4489-A4B2-350EBA186A62}" type="slidenum">
              <a:rPr lang="en-US" smtClean="0"/>
              <a:t>‹#›</a:t>
            </a:fld>
            <a:endParaRPr lang="en-US"/>
          </a:p>
        </p:txBody>
      </p:sp>
    </p:spTree>
    <p:extLst>
      <p:ext uri="{BB962C8B-B14F-4D97-AF65-F5344CB8AC3E}">
        <p14:creationId xmlns:p14="http://schemas.microsoft.com/office/powerpoint/2010/main" val="1429497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60937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1797918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481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3933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1360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51460A25-9B25-4489-A4B2-350EBA186A62}"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7952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6434E095-DD35-4246-838C-143EDD51FBAF}" type="datetimeFigureOut">
              <a:rPr lang="en-US" smtClean="0"/>
              <a:t>9/23/2026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51460A25-9B25-4489-A4B2-350EBA186A62}" type="slidenum">
              <a:rPr lang="en-US" smtClean="0"/>
              <a:t>‹#›</a:t>
            </a:fld>
            <a:endParaRPr lang="en-US"/>
          </a:p>
        </p:txBody>
      </p:sp>
    </p:spTree>
    <p:extLst>
      <p:ext uri="{BB962C8B-B14F-4D97-AF65-F5344CB8AC3E}">
        <p14:creationId xmlns:p14="http://schemas.microsoft.com/office/powerpoint/2010/main" val="411847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6434E095-DD35-4246-838C-143EDD51FBAF}" type="datetimeFigureOut">
              <a:rPr lang="en-US" smtClean="0"/>
              <a:t>9/23/2026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51460A25-9B25-4489-A4B2-350EBA186A62}" type="slidenum">
              <a:rPr lang="en-US" smtClean="0"/>
              <a:t>‹#›</a:t>
            </a:fld>
            <a:endParaRPr lang="en-US"/>
          </a:p>
        </p:txBody>
      </p:sp>
    </p:spTree>
    <p:extLst>
      <p:ext uri="{BB962C8B-B14F-4D97-AF65-F5344CB8AC3E}">
        <p14:creationId xmlns:p14="http://schemas.microsoft.com/office/powerpoint/2010/main" val="682968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6434E095-DD35-4246-838C-143EDD51FBAF}" type="datetimeFigureOut">
              <a:rPr lang="en-US" smtClean="0"/>
              <a:t>9/23/2026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51460A25-9B25-4489-A4B2-350EBA186A62}" type="slidenum">
              <a:rPr lang="en-US" smtClean="0"/>
              <a:t>‹#›</a:t>
            </a:fld>
            <a:endParaRPr lang="en-US"/>
          </a:p>
        </p:txBody>
      </p:sp>
    </p:spTree>
    <p:extLst>
      <p:ext uri="{BB962C8B-B14F-4D97-AF65-F5344CB8AC3E}">
        <p14:creationId xmlns:p14="http://schemas.microsoft.com/office/powerpoint/2010/main" val="37485060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6434E095-DD35-4246-838C-143EDD51FBAF}" type="datetimeFigureOut">
              <a:rPr lang="en-US" smtClean="0"/>
              <a:t>9/23/2026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51460A25-9B25-4489-A4B2-350EBA186A62}" type="slidenum">
              <a:rPr lang="en-US" smtClean="0"/>
              <a:t>‹#›</a:t>
            </a:fld>
            <a:endParaRPr lang="en-US"/>
          </a:p>
        </p:txBody>
      </p:sp>
    </p:spTree>
    <p:extLst>
      <p:ext uri="{BB962C8B-B14F-4D97-AF65-F5344CB8AC3E}">
        <p14:creationId xmlns:p14="http://schemas.microsoft.com/office/powerpoint/2010/main" val="1901213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6434E095-DD35-4246-838C-143EDD51FBAF}" type="datetimeFigureOut">
              <a:rPr lang="en-US" smtClean="0"/>
              <a:t>9/23/2026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51460A25-9B25-4489-A4B2-350EBA186A62}" type="slidenum">
              <a:rPr lang="en-US" smtClean="0"/>
              <a:t>‹#›</a:t>
            </a:fld>
            <a:endParaRPr lang="en-US"/>
          </a:p>
        </p:txBody>
      </p:sp>
    </p:spTree>
    <p:extLst>
      <p:ext uri="{BB962C8B-B14F-4D97-AF65-F5344CB8AC3E}">
        <p14:creationId xmlns:p14="http://schemas.microsoft.com/office/powerpoint/2010/main" val="656129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8037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03669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6434E095-DD35-4246-838C-143EDD51FBAF}" type="datetimeFigureOut">
              <a:rPr lang="en-US" smtClean="0"/>
              <a:t>9/23/2026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51460A25-9B25-4489-A4B2-350EBA186A62}"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500930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4627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4448124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21930939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2942757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33877723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1187820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5146834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2148998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1460A25-9B25-4489-A4B2-350EBA186A62}" type="slidenum">
              <a:rPr lang="en-US" smtClean="0"/>
              <a:t>‹#›</a:t>
            </a:fld>
            <a:endParaRPr lang="en-US"/>
          </a:p>
        </p:txBody>
      </p:sp>
    </p:spTree>
    <p:extLst>
      <p:ext uri="{BB962C8B-B14F-4D97-AF65-F5344CB8AC3E}">
        <p14:creationId xmlns:p14="http://schemas.microsoft.com/office/powerpoint/2010/main" val="19456219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7929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6434E095-DD35-4246-838C-143EDD51FBAF}" type="datetimeFigureOut">
              <a:rPr lang="en-US" smtClean="0"/>
              <a:t>9/23/2026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51460A25-9B25-4489-A4B2-350EBA186A62}"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9155765"/>
      </p:ext>
    </p:extLst>
  </p:cSld>
  <p:clrMap bg1="lt1" tx1="dk1" bg2="lt2" tx2="dk2" accent1="accent1" accent2="accent2" accent3="accent3" accent4="accent4" accent5="accent5" accent6="accent6" hlink="hlink" folHlink="folHlink"/>
  <p:sldLayoutIdLst>
    <p:sldLayoutId id="2147484244" r:id="rId1"/>
    <p:sldLayoutId id="2147484245" r:id="rId2"/>
    <p:sldLayoutId id="2147484246" r:id="rId3"/>
    <p:sldLayoutId id="2147484247" r:id="rId4"/>
    <p:sldLayoutId id="2147484248" r:id="rId5"/>
    <p:sldLayoutId id="2147484249" r:id="rId6"/>
    <p:sldLayoutId id="2147484250" r:id="rId7"/>
    <p:sldLayoutId id="2147484251" r:id="rId8"/>
    <p:sldLayoutId id="2147484252" r:id="rId9"/>
    <p:sldLayoutId id="2147484253" r:id="rId10"/>
    <p:sldLayoutId id="2147484254" r:id="rId11"/>
    <p:sldLayoutId id="2147484255" r:id="rId12"/>
    <p:sldLayoutId id="2147484256" r:id="rId13"/>
    <p:sldLayoutId id="2147484257" r:id="rId14"/>
    <p:sldLayoutId id="2147484258" r:id="rId15"/>
    <p:sldLayoutId id="2147484259" r:id="rId16"/>
    <p:sldLayoutId id="2147484260" r:id="rId17"/>
    <p:sldLayoutId id="2147484261" r:id="rId18"/>
    <p:sldLayoutId id="2147484262" r:id="rId19"/>
    <p:sldLayoutId id="2147484263" r:id="rId20"/>
    <p:sldLayoutId id="2147484264" r:id="rId21"/>
    <p:sldLayoutId id="2147484265" r:id="rId22"/>
    <p:sldLayoutId id="2147484266" r:id="rId23"/>
    <p:sldLayoutId id="2147484267" r:id="rId24"/>
    <p:sldLayoutId id="2147484268" r:id="rId25"/>
    <p:sldLayoutId id="2147484269" r:id="rId26"/>
    <p:sldLayoutId id="2147484270" r:id="rId27"/>
    <p:sldLayoutId id="2147484272" r:id="rId28"/>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5122" y="347472"/>
            <a:ext cx="10506222" cy="365760"/>
          </a:xfrm>
          <a:prstGeom prst="rect">
            <a:avLst/>
          </a:prstGeom>
          <a:noFill/>
          <a:ln/>
        </p:spPr>
        <p:txBody>
          <a:bodyPr wrap="square" lIns="0" tIns="0" rIns="0" bIns="0" rtlCol="0" anchor="ctr"/>
          <a:lstStyle/>
          <a:p>
            <a:pPr marL="0" indent="0" algn="ctr">
              <a:buNone/>
            </a:pPr>
            <a:r>
              <a:rPr lang="en-US" sz="1600" b="1" kern="0" spc="200" dirty="0">
                <a:solidFill>
                  <a:srgbClr val="1E2761"/>
                </a:solidFill>
                <a:ea typeface="Calibri" pitchFamily="34" charset="-122"/>
                <a:cs typeface="Calibri" pitchFamily="34" charset="-120"/>
              </a:rPr>
              <a:t>IDP REVIEW II</a:t>
            </a:r>
            <a:endParaRPr lang="en-US" sz="1600" dirty="0"/>
          </a:p>
        </p:txBody>
      </p:sp>
      <p:sp>
        <p:nvSpPr>
          <p:cNvPr id="3" name="Text 1"/>
          <p:cNvSpPr txBox="1"/>
          <p:nvPr/>
        </p:nvSpPr>
        <p:spPr>
          <a:xfrm>
            <a:off x="448993" y="741485"/>
            <a:ext cx="10698480" cy="1005840"/>
          </a:xfrm>
          <a:prstGeom prst="rect">
            <a:avLst/>
          </a:prstGeom>
          <a:noFill/>
          <a:ln/>
        </p:spPr>
        <p:txBody>
          <a:bodyPr wrap="square" lIns="0" tIns="0" rIns="0" bIns="0" rtlCol="0" anchor="ctr"/>
          <a:lstStyle/>
          <a:p>
            <a:pPr marL="0" indent="0" algn="ctr">
              <a:buNone/>
            </a:pPr>
            <a:r>
              <a:rPr lang="en-US" sz="5000" b="1" dirty="0">
                <a:solidFill>
                  <a:srgbClr val="222222"/>
                </a:solidFill>
                <a:ea typeface="Cambria" pitchFamily="34" charset="-122"/>
                <a:cs typeface="Cambria" pitchFamily="34" charset="-120"/>
              </a:rPr>
              <a:t>RESQ</a:t>
            </a:r>
            <a:endParaRPr lang="en-US" sz="5000" dirty="0"/>
          </a:p>
        </p:txBody>
      </p:sp>
      <p:sp>
        <p:nvSpPr>
          <p:cNvPr id="4" name="Text 2"/>
          <p:cNvSpPr txBox="1"/>
          <p:nvPr/>
        </p:nvSpPr>
        <p:spPr>
          <a:xfrm>
            <a:off x="548640" y="2011680"/>
            <a:ext cx="9601200" cy="548640"/>
          </a:xfrm>
          <a:prstGeom prst="rect">
            <a:avLst/>
          </a:prstGeom>
          <a:noFill/>
          <a:ln/>
        </p:spPr>
        <p:txBody>
          <a:bodyPr wrap="square" lIns="0" tIns="0" rIns="0" bIns="0" rtlCol="0" anchor="ctr"/>
          <a:lstStyle/>
          <a:p>
            <a:pPr marL="0" indent="0">
              <a:buNone/>
            </a:pPr>
            <a:r>
              <a:rPr lang="en-US" sz="2400" b="1" dirty="0">
                <a:ea typeface="Calibri" pitchFamily="34" charset="-122"/>
                <a:cs typeface="Calibri" pitchFamily="34" charset="-120"/>
              </a:rPr>
              <a:t>Predictive ambulance routing with just-in-time green corridors</a:t>
            </a:r>
            <a:endParaRPr lang="en-US" sz="2400" b="1" dirty="0"/>
          </a:p>
        </p:txBody>
      </p:sp>
      <p:sp>
        <p:nvSpPr>
          <p:cNvPr id="5" name="Text 3"/>
          <p:cNvSpPr txBox="1"/>
          <p:nvPr/>
        </p:nvSpPr>
        <p:spPr>
          <a:xfrm>
            <a:off x="548640" y="2651760"/>
            <a:ext cx="8961120" cy="731520"/>
          </a:xfrm>
          <a:prstGeom prst="rect">
            <a:avLst/>
          </a:prstGeom>
          <a:noFill/>
          <a:ln/>
        </p:spPr>
        <p:txBody>
          <a:bodyPr wrap="square" lIns="0" tIns="0" rIns="0" bIns="0" rtlCol="0" anchor="ctr"/>
          <a:lstStyle/>
          <a:p>
            <a:pPr marL="0" indent="0">
              <a:buNone/>
            </a:pPr>
            <a:r>
              <a:rPr lang="en-US" dirty="0">
                <a:solidFill>
                  <a:srgbClr val="6B6B6B"/>
                </a:solidFill>
                <a:ea typeface="Calibri" pitchFamily="34" charset="-122"/>
                <a:cs typeface="Calibri" pitchFamily="34" charset="-120"/>
              </a:rPr>
              <a:t>We route the ambulance on the traffic predicted for the moment it will arrive, and turn the signals green only as late as is safe.</a:t>
            </a:r>
            <a:endParaRPr lang="en-US" dirty="0"/>
          </a:p>
        </p:txBody>
      </p:sp>
      <p:sp>
        <p:nvSpPr>
          <p:cNvPr id="7" name="Text 5"/>
          <p:cNvSpPr txBox="1"/>
          <p:nvPr/>
        </p:nvSpPr>
        <p:spPr>
          <a:xfrm>
            <a:off x="548640" y="3566160"/>
            <a:ext cx="3108960" cy="365760"/>
          </a:xfrm>
          <a:prstGeom prst="rect">
            <a:avLst/>
          </a:prstGeom>
          <a:noFill/>
          <a:ln/>
        </p:spPr>
        <p:txBody>
          <a:bodyPr wrap="square" lIns="0" tIns="0" rIns="0" bIns="0" rtlCol="0" anchor="ctr"/>
          <a:lstStyle/>
          <a:p>
            <a:pPr marL="0" indent="0">
              <a:buNone/>
            </a:pPr>
            <a:r>
              <a:rPr lang="en-US" b="1" dirty="0">
                <a:solidFill>
                  <a:srgbClr val="222222"/>
                </a:solidFill>
                <a:ea typeface="Calibri" pitchFamily="34" charset="-122"/>
                <a:cs typeface="Calibri" pitchFamily="34" charset="-120"/>
              </a:rPr>
              <a:t>•  Efficient Routing</a:t>
            </a:r>
            <a:endParaRPr lang="en-US" dirty="0"/>
          </a:p>
        </p:txBody>
      </p:sp>
      <p:sp>
        <p:nvSpPr>
          <p:cNvPr id="10" name="Text 8"/>
          <p:cNvSpPr txBox="1"/>
          <p:nvPr/>
        </p:nvSpPr>
        <p:spPr>
          <a:xfrm>
            <a:off x="561703" y="4104835"/>
            <a:ext cx="4899530" cy="365760"/>
          </a:xfrm>
          <a:prstGeom prst="rect">
            <a:avLst/>
          </a:prstGeom>
          <a:noFill/>
          <a:ln/>
        </p:spPr>
        <p:txBody>
          <a:bodyPr wrap="square" lIns="0" tIns="0" rIns="0" bIns="0" rtlCol="0" anchor="ctr"/>
          <a:lstStyle/>
          <a:p>
            <a:pPr marL="0" indent="0">
              <a:buNone/>
            </a:pPr>
            <a:r>
              <a:rPr lang="en-US" b="1" dirty="0">
                <a:solidFill>
                  <a:srgbClr val="222222"/>
                </a:solidFill>
                <a:ea typeface="Calibri" pitchFamily="34" charset="-122"/>
                <a:cs typeface="Calibri" pitchFamily="34" charset="-120"/>
              </a:rPr>
              <a:t>•  Realtime Traffic Forecasting using </a:t>
            </a:r>
            <a:r>
              <a:rPr lang="en-US" b="1" dirty="0" err="1">
                <a:solidFill>
                  <a:srgbClr val="222222"/>
                </a:solidFill>
                <a:ea typeface="Calibri" pitchFamily="34" charset="-122"/>
                <a:cs typeface="Calibri" pitchFamily="34" charset="-120"/>
              </a:rPr>
              <a:t>GraphNet</a:t>
            </a:r>
            <a:endParaRPr lang="en-US" dirty="0"/>
          </a:p>
        </p:txBody>
      </p:sp>
      <p:sp>
        <p:nvSpPr>
          <p:cNvPr id="13" name="Text 11"/>
          <p:cNvSpPr txBox="1"/>
          <p:nvPr/>
        </p:nvSpPr>
        <p:spPr>
          <a:xfrm>
            <a:off x="561703" y="4643510"/>
            <a:ext cx="3108960" cy="365760"/>
          </a:xfrm>
          <a:prstGeom prst="rect">
            <a:avLst/>
          </a:prstGeom>
          <a:noFill/>
          <a:ln/>
        </p:spPr>
        <p:txBody>
          <a:bodyPr wrap="square" lIns="0" tIns="0" rIns="0" bIns="0" rtlCol="0" anchor="ctr"/>
          <a:lstStyle/>
          <a:p>
            <a:pPr marL="0" indent="0">
              <a:buNone/>
            </a:pPr>
            <a:r>
              <a:rPr lang="en-US" b="1" dirty="0">
                <a:solidFill>
                  <a:srgbClr val="222222"/>
                </a:solidFill>
                <a:ea typeface="Calibri" pitchFamily="34" charset="-122"/>
                <a:cs typeface="Calibri" pitchFamily="34" charset="-120"/>
              </a:rPr>
              <a:t>•  YOLO Object Detection</a:t>
            </a:r>
            <a:endParaRPr lang="en-US" dirty="0"/>
          </a:p>
        </p:txBody>
      </p:sp>
      <p:sp>
        <p:nvSpPr>
          <p:cNvPr id="15" name="Text 13"/>
          <p:cNvSpPr txBox="1"/>
          <p:nvPr/>
        </p:nvSpPr>
        <p:spPr>
          <a:xfrm>
            <a:off x="8893523" y="4734950"/>
            <a:ext cx="3108960" cy="1930087"/>
          </a:xfrm>
          <a:prstGeom prst="rect">
            <a:avLst/>
          </a:prstGeom>
          <a:noFill/>
          <a:ln/>
        </p:spPr>
        <p:txBody>
          <a:bodyPr wrap="square" lIns="0" tIns="0" rIns="0" bIns="0" rtlCol="0" anchor="ctr"/>
          <a:lstStyle/>
          <a:p>
            <a:pPr marL="0" indent="0">
              <a:buNone/>
            </a:pPr>
            <a:r>
              <a:rPr lang="en-US" sz="1600" b="1" dirty="0">
                <a:solidFill>
                  <a:srgbClr val="222222"/>
                </a:solidFill>
                <a:ea typeface="Calibri" pitchFamily="34" charset="-122"/>
                <a:cs typeface="Times New Roman" panose="02020603050405020304" pitchFamily="18" charset="0"/>
              </a:rPr>
              <a:t>Team:  </a:t>
            </a:r>
          </a:p>
          <a:p>
            <a:pPr marL="0" indent="0">
              <a:buNone/>
            </a:pPr>
            <a:r>
              <a:rPr lang="en-US" sz="1600" b="1" dirty="0">
                <a:solidFill>
                  <a:srgbClr val="222222"/>
                </a:solidFill>
                <a:ea typeface="Calibri" pitchFamily="34" charset="-122"/>
                <a:cs typeface="Times New Roman" panose="02020603050405020304" pitchFamily="18" charset="0"/>
              </a:rPr>
              <a:t>Bhuvan Ghanesh A V – 25BCE1488</a:t>
            </a:r>
          </a:p>
          <a:p>
            <a:pPr marL="0" indent="0">
              <a:buNone/>
            </a:pPr>
            <a:r>
              <a:rPr lang="en-US" sz="1600" b="1" dirty="0">
                <a:solidFill>
                  <a:srgbClr val="222222"/>
                </a:solidFill>
                <a:ea typeface="Calibri" pitchFamily="34" charset="-122"/>
                <a:cs typeface="Times New Roman" panose="02020603050405020304" pitchFamily="18" charset="0"/>
              </a:rPr>
              <a:t>Kailash S – 25BCE1511</a:t>
            </a:r>
          </a:p>
          <a:p>
            <a:pPr marL="0" indent="0">
              <a:buNone/>
            </a:pPr>
            <a:r>
              <a:rPr lang="en-US" sz="1600" b="1" dirty="0">
                <a:solidFill>
                  <a:srgbClr val="222222"/>
                </a:solidFill>
                <a:ea typeface="Calibri" pitchFamily="34" charset="-122"/>
                <a:cs typeface="Times New Roman" panose="02020603050405020304" pitchFamily="18" charset="0"/>
              </a:rPr>
              <a:t>Jaydon J P – 25BCE5274</a:t>
            </a:r>
          </a:p>
          <a:p>
            <a:pPr marL="0" indent="0">
              <a:buNone/>
            </a:pPr>
            <a:endParaRPr lang="en-US" sz="1600" b="1" dirty="0">
              <a:solidFill>
                <a:srgbClr val="222222"/>
              </a:solidFill>
              <a:ea typeface="Calibri" pitchFamily="34" charset="-122"/>
              <a:cs typeface="Times New Roman" panose="02020603050405020304" pitchFamily="18" charset="0"/>
            </a:endParaRPr>
          </a:p>
          <a:p>
            <a:pPr marL="0" indent="0">
              <a:buNone/>
            </a:pPr>
            <a:r>
              <a:rPr lang="en-US" sz="1600" b="1" dirty="0">
                <a:solidFill>
                  <a:srgbClr val="222222"/>
                </a:solidFill>
                <a:ea typeface="Calibri" pitchFamily="34" charset="-122"/>
                <a:cs typeface="Times New Roman" panose="02020603050405020304" pitchFamily="18" charset="0"/>
              </a:rPr>
              <a:t>Guide:  </a:t>
            </a:r>
          </a:p>
          <a:p>
            <a:pPr marL="0" indent="0">
              <a:buNone/>
            </a:pPr>
            <a:r>
              <a:rPr lang="en-US" sz="1600" b="1" dirty="0">
                <a:solidFill>
                  <a:srgbClr val="222222"/>
                </a:solidFill>
                <a:ea typeface="Calibri" pitchFamily="34" charset="-122"/>
                <a:cs typeface="Times New Roman" panose="02020603050405020304" pitchFamily="18" charset="0"/>
              </a:rPr>
              <a:t>Dr. Jayanthi R</a:t>
            </a:r>
            <a:endParaRPr lang="en-US" sz="1400" b="1" dirty="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925831"/>
            <a:ext cx="11091672" cy="320040"/>
          </a:xfrm>
          <a:prstGeom prst="rect">
            <a:avLst/>
          </a:prstGeom>
          <a:noFill/>
          <a:ln/>
        </p:spPr>
        <p:txBody>
          <a:bodyPr wrap="square" lIns="0" tIns="0" rIns="0" bIns="0" rtlCol="0" anchor="ctr"/>
          <a:lstStyle/>
          <a:p>
            <a:pPr marL="0" indent="0" algn="ctr">
              <a:buNone/>
            </a:pPr>
            <a:r>
              <a:rPr lang="en-US" sz="3600" b="1" kern="0" spc="100" dirty="0">
                <a:solidFill>
                  <a:srgbClr val="1E2761"/>
                </a:solidFill>
                <a:ea typeface="Calibri" pitchFamily="34" charset="-122"/>
                <a:cs typeface="Calibri" pitchFamily="34" charset="-120"/>
              </a:rPr>
              <a:t>THE PROBLEM</a:t>
            </a:r>
            <a:endParaRPr lang="en-US" sz="3600" dirty="0"/>
          </a:p>
        </p:txBody>
      </p:sp>
      <p:sp>
        <p:nvSpPr>
          <p:cNvPr id="3" name="Text 1"/>
          <p:cNvSpPr txBox="1"/>
          <p:nvPr/>
        </p:nvSpPr>
        <p:spPr>
          <a:xfrm>
            <a:off x="421114" y="2416302"/>
            <a:ext cx="11346724" cy="2025396"/>
          </a:xfrm>
          <a:prstGeom prst="rect">
            <a:avLst/>
          </a:prstGeom>
          <a:noFill/>
          <a:ln/>
        </p:spPr>
        <p:txBody>
          <a:bodyPr wrap="square" lIns="0" tIns="0" rIns="0" bIns="0" rtlCol="0" anchor="ctr"/>
          <a:lstStyle/>
          <a:p>
            <a:pPr algn="ctr"/>
            <a:r>
              <a:rPr lang="en-IN" sz="3200" dirty="0"/>
              <a:t>An ambulance loses minutes it does not have, because the traffic information it is routed on is already several minutes old, and because traffic signals along its route are not aware it is coming.</a:t>
            </a:r>
            <a:br>
              <a:rPr lang="en-IN" sz="3200" dirty="0"/>
            </a:br>
            <a:endParaRPr lang="en-US" sz="3200" dirty="0"/>
          </a:p>
        </p:txBody>
      </p:sp>
      <p:sp>
        <p:nvSpPr>
          <p:cNvPr id="16" name="Text 14"/>
          <p:cNvSpPr txBox="1"/>
          <p:nvPr/>
        </p:nvSpPr>
        <p:spPr>
          <a:xfrm>
            <a:off x="548640" y="5989320"/>
            <a:ext cx="11091672" cy="457200"/>
          </a:xfrm>
          <a:prstGeom prst="rect">
            <a:avLst/>
          </a:prstGeom>
          <a:noFill/>
          <a:ln/>
        </p:spPr>
        <p:txBody>
          <a:bodyPr wrap="square" lIns="0" tIns="0" rIns="0" bIns="0" rtlCol="0" anchor="ctr"/>
          <a:lstStyle/>
          <a:p>
            <a:r>
              <a:rPr lang="en-IN" sz="1600" dirty="0"/>
              <a:t>Crowd-sourced traffic is aggregated from phones and lags real conditions by 2–5 minutes. An accident that blocked two lanes 90 seconds ago still shows the road as clear. The ambulance is routed straight into it.</a:t>
            </a:r>
            <a:endParaRPr lang="en-US" sz="1600" dirty="0"/>
          </a:p>
        </p:txBody>
      </p:sp>
      <p:sp>
        <p:nvSpPr>
          <p:cNvPr id="18" name="Text 16"/>
          <p:cNvSpPr txBox="1"/>
          <p:nvPr/>
        </p:nvSpPr>
        <p:spPr>
          <a:xfrm>
            <a:off x="11183112" y="6537960"/>
            <a:ext cx="457200" cy="274320"/>
          </a:xfrm>
          <a:prstGeom prst="rect">
            <a:avLst/>
          </a:prstGeom>
          <a:noFill/>
          <a:ln/>
        </p:spPr>
        <p:txBody>
          <a:bodyPr wrap="square" lIns="0" tIns="0" rIns="0" bIns="0" rtlCol="0" anchor="ctr"/>
          <a:lstStyle/>
          <a:p>
            <a:pPr marL="0" indent="0" algn="r">
              <a:buNone/>
            </a:pPr>
            <a:r>
              <a:rPr lang="en-US" sz="1100" dirty="0">
                <a:solidFill>
                  <a:srgbClr val="6B6B6B"/>
                </a:solidFill>
                <a:latin typeface="Calibri" pitchFamily="34" charset="0"/>
                <a:ea typeface="Calibri" pitchFamily="34" charset="-122"/>
                <a:cs typeface="Calibri" pitchFamily="34" charset="-120"/>
              </a:rPr>
              <a:t>•</a:t>
            </a:r>
            <a:endParaRPr lang="en-US" sz="1100" dirty="0"/>
          </a:p>
        </p:txBody>
      </p:sp>
      <p:sp>
        <p:nvSpPr>
          <p:cNvPr id="4" name="TextBox 3">
            <a:extLst>
              <a:ext uri="{FF2B5EF4-FFF2-40B4-BE49-F238E27FC236}">
                <a16:creationId xmlns:a16="http://schemas.microsoft.com/office/drawing/2014/main" id="{60777A77-D542-BC40-382A-CC292D287CBA}"/>
              </a:ext>
            </a:extLst>
          </p:cNvPr>
          <p:cNvSpPr txBox="1"/>
          <p:nvPr/>
        </p:nvSpPr>
        <p:spPr>
          <a:xfrm>
            <a:off x="1167735" y="4658831"/>
            <a:ext cx="9853482" cy="830997"/>
          </a:xfrm>
          <a:prstGeom prst="rect">
            <a:avLst/>
          </a:prstGeom>
          <a:noFill/>
        </p:spPr>
        <p:txBody>
          <a:bodyPr wrap="square" rtlCol="0">
            <a:spAutoFit/>
          </a:bodyPr>
          <a:lstStyle/>
          <a:p>
            <a:r>
              <a:rPr lang="en-IN" sz="2400" dirty="0"/>
              <a:t>Research Gap: Current systems don’t do real-time prediction, they use older data which is inaccurate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marL="0" indent="0" algn="ctr">
              <a:buNone/>
            </a:pPr>
            <a:r>
              <a:rPr lang="en-US" sz="1500" b="1" kern="0" spc="100" dirty="0">
                <a:solidFill>
                  <a:srgbClr val="1E2761"/>
                </a:solidFill>
                <a:ea typeface="Calibri" pitchFamily="34" charset="-122"/>
                <a:cs typeface="Calibri" pitchFamily="34" charset="-120"/>
              </a:rPr>
              <a:t>OUR PLAN</a:t>
            </a:r>
            <a:endParaRPr lang="en-US" sz="1500" dirty="0"/>
          </a:p>
        </p:txBody>
      </p:sp>
      <p:sp>
        <p:nvSpPr>
          <p:cNvPr id="3" name="Text 1"/>
          <p:cNvSpPr txBox="1"/>
          <p:nvPr/>
        </p:nvSpPr>
        <p:spPr>
          <a:xfrm>
            <a:off x="548640" y="731520"/>
            <a:ext cx="11091672" cy="822960"/>
          </a:xfrm>
          <a:prstGeom prst="rect">
            <a:avLst/>
          </a:prstGeom>
          <a:noFill/>
          <a:ln/>
        </p:spPr>
        <p:txBody>
          <a:bodyPr wrap="square" lIns="0" tIns="0" rIns="0" bIns="0" rtlCol="0" anchor="ctr"/>
          <a:lstStyle/>
          <a:p>
            <a:pPr algn="ctr"/>
            <a:r>
              <a:rPr lang="en-IN" sz="3200" dirty="0"/>
              <a:t>Predictive Ambulance Routing with Just-in-Time Green Corridors</a:t>
            </a:r>
            <a:endParaRPr lang="en-US" sz="3200" dirty="0"/>
          </a:p>
        </p:txBody>
      </p:sp>
      <p:sp>
        <p:nvSpPr>
          <p:cNvPr id="5" name="Text 3"/>
          <p:cNvSpPr txBox="1"/>
          <p:nvPr/>
        </p:nvSpPr>
        <p:spPr>
          <a:xfrm>
            <a:off x="731520" y="2400300"/>
            <a:ext cx="4663440" cy="365760"/>
          </a:xfrm>
          <a:prstGeom prst="rect">
            <a:avLst/>
          </a:prstGeom>
          <a:noFill/>
          <a:ln/>
        </p:spPr>
        <p:txBody>
          <a:bodyPr wrap="square" lIns="0" tIns="0" rIns="0" bIns="0" rtlCol="0" anchor="ctr"/>
          <a:lstStyle/>
          <a:p>
            <a:r>
              <a:rPr lang="en-IN" sz="1600" b="1" dirty="0"/>
              <a:t>1. Predict Traffic Before the Ambulance Reaches It</a:t>
            </a:r>
            <a:r>
              <a:rPr lang="en-IN" sz="1600" dirty="0"/>
              <a:t> </a:t>
            </a:r>
          </a:p>
          <a:p>
            <a:pPr lvl="0"/>
            <a:r>
              <a:rPr lang="en-IN" sz="1600" dirty="0"/>
              <a:t>Use GPS/traffic history and </a:t>
            </a:r>
            <a:r>
              <a:rPr lang="en-IN" sz="1600" b="1" dirty="0"/>
              <a:t>Graph </a:t>
            </a:r>
            <a:r>
              <a:rPr lang="en-IN" sz="1600" b="1" dirty="0" err="1"/>
              <a:t>WaveNet</a:t>
            </a:r>
            <a:endParaRPr lang="en-IN" sz="1600" dirty="0"/>
          </a:p>
          <a:p>
            <a:pPr lvl="0"/>
            <a:r>
              <a:rPr lang="en-IN" sz="1600" dirty="0"/>
              <a:t>Forecast congestion </a:t>
            </a:r>
            <a:r>
              <a:rPr lang="en-IN" sz="1600" b="1" dirty="0"/>
              <a:t>5–30 minutes ahead</a:t>
            </a:r>
            <a:endParaRPr lang="en-IN" sz="1600" dirty="0"/>
          </a:p>
          <a:p>
            <a:pPr lvl="0"/>
            <a:r>
              <a:rPr lang="en-IN" sz="1600" dirty="0"/>
              <a:t>Avoid roads expected to become congested</a:t>
            </a:r>
          </a:p>
        </p:txBody>
      </p:sp>
      <p:sp>
        <p:nvSpPr>
          <p:cNvPr id="8" name="Text 6"/>
          <p:cNvSpPr txBox="1"/>
          <p:nvPr/>
        </p:nvSpPr>
        <p:spPr>
          <a:xfrm>
            <a:off x="731520" y="3726181"/>
            <a:ext cx="4663440" cy="365760"/>
          </a:xfrm>
          <a:prstGeom prst="rect">
            <a:avLst/>
          </a:prstGeom>
          <a:noFill/>
          <a:ln/>
        </p:spPr>
        <p:txBody>
          <a:bodyPr wrap="square" lIns="0" tIns="0" rIns="0" bIns="0" rtlCol="0" anchor="ctr"/>
          <a:lstStyle/>
          <a:p>
            <a:r>
              <a:rPr lang="en-IN" sz="1600" b="1" dirty="0"/>
              <a:t>2. Understand the Road in Real Time</a:t>
            </a:r>
            <a:r>
              <a:rPr lang="en-IN" sz="1600" dirty="0"/>
              <a:t> </a:t>
            </a:r>
          </a:p>
          <a:p>
            <a:pPr lvl="0"/>
            <a:r>
              <a:rPr lang="en-IN" sz="1600" dirty="0"/>
              <a:t>Ambulance-mounted </a:t>
            </a:r>
            <a:r>
              <a:rPr lang="en-IN" sz="1600" b="1" dirty="0"/>
              <a:t>camera + YOLO</a:t>
            </a:r>
            <a:endParaRPr lang="en-IN" sz="1600" dirty="0"/>
          </a:p>
          <a:p>
            <a:pPr lvl="0"/>
            <a:r>
              <a:rPr lang="en-IN" sz="1600" dirty="0"/>
              <a:t>Detect vehicles, traffic density and obstacles</a:t>
            </a:r>
          </a:p>
          <a:p>
            <a:pPr lvl="0"/>
            <a:r>
              <a:rPr lang="en-IN" sz="1600" b="1" dirty="0"/>
              <a:t>LiDAR</a:t>
            </a:r>
            <a:r>
              <a:rPr lang="en-IN" sz="1600" dirty="0"/>
              <a:t> estimates queues, free space and road blockages</a:t>
            </a:r>
          </a:p>
        </p:txBody>
      </p:sp>
      <mc:AlternateContent xmlns:mc="http://schemas.openxmlformats.org/markup-compatibility/2006">
        <mc:Choice xmlns:a14="http://schemas.microsoft.com/office/drawing/2010/main" Requires="a14">
          <p:sp>
            <p:nvSpPr>
              <p:cNvPr id="11" name="Text 9"/>
              <p:cNvSpPr txBox="1"/>
              <p:nvPr/>
            </p:nvSpPr>
            <p:spPr>
              <a:xfrm>
                <a:off x="731520" y="5318096"/>
                <a:ext cx="4663440" cy="365760"/>
              </a:xfrm>
              <a:prstGeom prst="rect">
                <a:avLst/>
              </a:prstGeom>
              <a:noFill/>
              <a:ln/>
            </p:spPr>
            <p:txBody>
              <a:bodyPr wrap="square" lIns="0" tIns="0" rIns="0" bIns="0" rtlCol="0" anchor="ctr"/>
              <a:lstStyle/>
              <a:p>
                <a:r>
                  <a:rPr lang="en-IN" sz="1600" b="1" dirty="0"/>
                  <a:t>3. Fuse All Information</a:t>
                </a:r>
                <a:br>
                  <a:rPr lang="en-IN" sz="1600" dirty="0"/>
                </a:br>
                <a:r>
                  <a:rPr lang="en-IN" sz="1600" dirty="0"/>
                  <a:t>Combine:</a:t>
                </a:r>
                <a:br>
                  <a:rPr lang="en-IN" sz="1600" dirty="0"/>
                </a:br>
                <a14:m>
                  <m:oMathPara xmlns:m="http://schemas.openxmlformats.org/officeDocument/2006/math">
                    <m:oMath>
                      <m:r>
                        <m:rPr>
                          <m:nor/>
                        </m:rPr>
                        <a:rPr lang="en-IN" sz="1600" i="0" dirty="0" smtClean="0">
                          <a:latin typeface="Cambria Math" panose="02040503050406030204" pitchFamily="18" charset="0"/>
                        </a:rPr>
                        <m:t>Traffic Forecast + Camera + LiDAR + GPS + Road Network</m:t>
                      </m:r>
                    </m:oMath>
                  </m:oMathPara>
                </a14:m>
                <a:endParaRPr lang="en-IN" sz="1600" dirty="0"/>
              </a:p>
              <a:p>
                <a:r>
                  <a:rPr lang="en-IN" sz="1600" dirty="0"/>
                  <a:t>to obtain a continuously updated view of road conditions.</a:t>
                </a:r>
              </a:p>
            </p:txBody>
          </p:sp>
        </mc:Choice>
        <mc:Fallback>
          <p:sp>
            <p:nvSpPr>
              <p:cNvPr id="11" name="Text 9"/>
              <p:cNvSpPr txBox="1">
                <a:spLocks noRot="1" noChangeAspect="1" noMove="1" noResize="1" noEditPoints="1" noAdjustHandles="1" noChangeArrowheads="1" noChangeShapeType="1" noTextEdit="1"/>
              </p:cNvSpPr>
              <p:nvPr/>
            </p:nvSpPr>
            <p:spPr>
              <a:xfrm>
                <a:off x="731520" y="5318096"/>
                <a:ext cx="4663440" cy="365760"/>
              </a:xfrm>
              <a:prstGeom prst="rect">
                <a:avLst/>
              </a:prstGeom>
              <a:blipFill>
                <a:blip r:embed="rId3"/>
                <a:stretch>
                  <a:fillRect l="-2614" t="-133333" r="-2222" b="-151667"/>
                </a:stretch>
              </a:blipFill>
              <a:ln/>
            </p:spPr>
            <p:txBody>
              <a:bodyPr/>
              <a:lstStyle/>
              <a:p>
                <a:r>
                  <a:rPr lang="en-IN">
                    <a:noFill/>
                  </a:rPr>
                  <a:t> </a:t>
                </a:r>
              </a:p>
            </p:txBody>
          </p:sp>
        </mc:Fallback>
      </mc:AlternateContent>
      <p:sp>
        <p:nvSpPr>
          <p:cNvPr id="14" name="Text 12"/>
          <p:cNvSpPr txBox="1"/>
          <p:nvPr/>
        </p:nvSpPr>
        <p:spPr>
          <a:xfrm>
            <a:off x="6519672" y="2521888"/>
            <a:ext cx="4663440" cy="365760"/>
          </a:xfrm>
          <a:prstGeom prst="rect">
            <a:avLst/>
          </a:prstGeom>
          <a:noFill/>
          <a:ln/>
        </p:spPr>
        <p:txBody>
          <a:bodyPr wrap="square" lIns="0" tIns="0" rIns="0" bIns="0" rtlCol="0" anchor="ctr"/>
          <a:lstStyle/>
          <a:p>
            <a:r>
              <a:rPr lang="en-IN" sz="1600" b="1" dirty="0"/>
              <a:t>4. Dynamically Select the Best Emergency Route</a:t>
            </a:r>
            <a:r>
              <a:rPr lang="en-IN" sz="1600" dirty="0"/>
              <a:t> </a:t>
            </a:r>
          </a:p>
          <a:p>
            <a:pPr lvl="0"/>
            <a:r>
              <a:rPr lang="en-IN" sz="1600" dirty="0"/>
              <a:t>OSM/SUMO road network</a:t>
            </a:r>
          </a:p>
          <a:p>
            <a:pPr lvl="0"/>
            <a:r>
              <a:rPr lang="en-IN" sz="1600" dirty="0"/>
              <a:t>Predicted travel time used as road-edge cost</a:t>
            </a:r>
          </a:p>
          <a:p>
            <a:pPr lvl="0"/>
            <a:r>
              <a:rPr lang="en-IN" sz="1600" dirty="0"/>
              <a:t>Route automatically changes when congestion or blockage appears</a:t>
            </a:r>
          </a:p>
        </p:txBody>
      </p:sp>
      <p:sp>
        <p:nvSpPr>
          <p:cNvPr id="21" name="Text 19"/>
          <p:cNvSpPr txBox="1"/>
          <p:nvPr/>
        </p:nvSpPr>
        <p:spPr>
          <a:xfrm>
            <a:off x="11183112" y="6537960"/>
            <a:ext cx="457200" cy="274320"/>
          </a:xfrm>
          <a:prstGeom prst="rect">
            <a:avLst/>
          </a:prstGeom>
          <a:noFill/>
          <a:ln/>
        </p:spPr>
        <p:txBody>
          <a:bodyPr wrap="square" lIns="0" tIns="0" rIns="0" bIns="0" rtlCol="0" anchor="ctr"/>
          <a:lstStyle/>
          <a:p>
            <a:pPr marL="0" indent="0" algn="r">
              <a:buNone/>
            </a:pPr>
            <a:r>
              <a:rPr lang="en-US" sz="1100" dirty="0">
                <a:solidFill>
                  <a:srgbClr val="6B6B6B"/>
                </a:solidFill>
                <a:latin typeface="Calibri" pitchFamily="34" charset="0"/>
                <a:ea typeface="Calibri" pitchFamily="34" charset="-122"/>
                <a:cs typeface="Calibri" pitchFamily="34" charset="-120"/>
              </a:rPr>
              <a:t>3</a:t>
            </a:r>
            <a:endParaRPr lang="en-US" sz="1100" dirty="0"/>
          </a:p>
        </p:txBody>
      </p:sp>
      <p:sp>
        <p:nvSpPr>
          <p:cNvPr id="20" name="Text 12">
            <a:extLst>
              <a:ext uri="{FF2B5EF4-FFF2-40B4-BE49-F238E27FC236}">
                <a16:creationId xmlns:a16="http://schemas.microsoft.com/office/drawing/2014/main" id="{7311239E-F8DC-101E-D46D-FD19181D02CF}"/>
              </a:ext>
            </a:extLst>
          </p:cNvPr>
          <p:cNvSpPr txBox="1"/>
          <p:nvPr/>
        </p:nvSpPr>
        <p:spPr>
          <a:xfrm>
            <a:off x="6519672" y="3967575"/>
            <a:ext cx="4663440" cy="365760"/>
          </a:xfrm>
          <a:prstGeom prst="rect">
            <a:avLst/>
          </a:prstGeom>
          <a:noFill/>
          <a:ln/>
        </p:spPr>
        <p:txBody>
          <a:bodyPr wrap="square" lIns="0" tIns="0" rIns="0" bIns="0" rtlCol="0" anchor="ctr"/>
          <a:lstStyle/>
          <a:p>
            <a:r>
              <a:rPr lang="en-IN" sz="1600" b="1" dirty="0"/>
              <a:t>5. Create a Just-in-Time Green Corridor</a:t>
            </a:r>
            <a:r>
              <a:rPr lang="en-IN" sz="1600" dirty="0"/>
              <a:t> </a:t>
            </a:r>
          </a:p>
          <a:p>
            <a:pPr lvl="0"/>
            <a:r>
              <a:rPr lang="en-IN" sz="1600" dirty="0"/>
              <a:t>Predict ambulance arrival time at upcoming junctions</a:t>
            </a:r>
          </a:p>
          <a:p>
            <a:pPr lvl="0"/>
            <a:r>
              <a:rPr lang="en-IN" sz="1600" dirty="0"/>
              <a:t>Send </a:t>
            </a:r>
            <a:r>
              <a:rPr lang="en-IN" sz="1600" b="1" dirty="0"/>
              <a:t>signal-priority requests</a:t>
            </a:r>
            <a:endParaRPr lang="en-IN" sz="1600" dirty="0"/>
          </a:p>
          <a:p>
            <a:pPr lvl="0"/>
            <a:r>
              <a:rPr lang="en-IN" sz="1600" dirty="0"/>
              <a:t>Clear queues and turn the ambulance direction green shortly before arrival</a:t>
            </a:r>
          </a:p>
          <a:p>
            <a:pPr lvl="0"/>
            <a:r>
              <a:rPr lang="en-IN" sz="1600" dirty="0"/>
              <a:t>Restore normal signal operation immediately after passage</a:t>
            </a:r>
          </a:p>
        </p:txBody>
      </p:sp>
      <mc:AlternateContent xmlns:mc="http://schemas.openxmlformats.org/markup-compatibility/2006">
        <mc:Choice xmlns:a14="http://schemas.microsoft.com/office/drawing/2010/main" Requires="a14">
          <p:sp>
            <p:nvSpPr>
              <p:cNvPr id="23" name="Text 12">
                <a:extLst>
                  <a:ext uri="{FF2B5EF4-FFF2-40B4-BE49-F238E27FC236}">
                    <a16:creationId xmlns:a16="http://schemas.microsoft.com/office/drawing/2014/main" id="{D1B2A24E-E0A3-6295-4BB0-22C14F1740BD}"/>
                  </a:ext>
                </a:extLst>
              </p:cNvPr>
              <p:cNvSpPr txBox="1"/>
              <p:nvPr/>
            </p:nvSpPr>
            <p:spPr>
              <a:xfrm>
                <a:off x="6519672" y="5500976"/>
                <a:ext cx="4663440" cy="365760"/>
              </a:xfrm>
              <a:prstGeom prst="rect">
                <a:avLst/>
              </a:prstGeom>
              <a:noFill/>
              <a:ln/>
            </p:spPr>
            <p:txBody>
              <a:bodyPr wrap="square" lIns="0" tIns="0" rIns="0" bIns="0" rtlCol="0" anchor="ctr"/>
              <a:lstStyle/>
              <a:p>
                <a:r>
                  <a:rPr lang="en-IN" sz="1600" b="1" dirty="0"/>
                  <a:t>6. Continuously Recalculate During the Journey</a:t>
                </a:r>
                <a:br>
                  <a:rPr lang="en-IN" sz="1600" dirty="0"/>
                </a:br>
                <a:r>
                  <a:rPr lang="en-IN" sz="1600" dirty="0"/>
                  <a:t>If traffic conditions change:</a:t>
                </a:r>
              </a:p>
              <a:p>
                <a14:m>
                  <m:oMathPara xmlns:m="http://schemas.openxmlformats.org/officeDocument/2006/math">
                    <m:oMath>
                      <m:r>
                        <m:rPr>
                          <m:nor/>
                        </m:rPr>
                        <a:rPr lang="en-IN" sz="1600" i="0" dirty="0" smtClean="0">
                          <a:latin typeface="Cambria Math" panose="02040503050406030204" pitchFamily="18" charset="0"/>
                        </a:rPr>
                        <m:t>Detect</m:t>
                      </m:r>
                      <m:r>
                        <a:rPr lang="en-IN" sz="1600" i="0" dirty="0">
                          <a:latin typeface="Cambria Math" panose="02040503050406030204" pitchFamily="18" charset="0"/>
                        </a:rPr>
                        <m:t>→</m:t>
                      </m:r>
                      <m:r>
                        <m:rPr>
                          <m:nor/>
                        </m:rPr>
                        <a:rPr lang="en-IN" sz="1600" i="0" dirty="0">
                          <a:latin typeface="Cambria Math" panose="02040503050406030204" pitchFamily="18" charset="0"/>
                        </a:rPr>
                        <m:t>Recalculate</m:t>
                      </m:r>
                      <m:r>
                        <a:rPr lang="en-IN" sz="1600" i="0" dirty="0">
                          <a:latin typeface="Cambria Math" panose="02040503050406030204" pitchFamily="18" charset="0"/>
                        </a:rPr>
                        <m:t>→</m:t>
                      </m:r>
                      <m:r>
                        <m:rPr>
                          <m:nor/>
                        </m:rPr>
                        <a:rPr lang="en-IN" sz="1600" i="0" dirty="0">
                          <a:latin typeface="Cambria Math" panose="02040503050406030204" pitchFamily="18" charset="0"/>
                        </a:rPr>
                        <m:t>Reroute</m:t>
                      </m:r>
                      <m:r>
                        <a:rPr lang="en-IN" sz="1600" i="0" dirty="0">
                          <a:latin typeface="Cambria Math" panose="02040503050406030204" pitchFamily="18" charset="0"/>
                        </a:rPr>
                        <m:t>→</m:t>
                      </m:r>
                      <m:r>
                        <m:rPr>
                          <m:nor/>
                        </m:rPr>
                        <a:rPr lang="en-IN" sz="1600" i="0" dirty="0">
                          <a:latin typeface="Cambria Math" panose="02040503050406030204" pitchFamily="18" charset="0"/>
                        </a:rPr>
                        <m:t>Update Signals</m:t>
                      </m:r>
                    </m:oMath>
                  </m:oMathPara>
                </a14:m>
                <a:endParaRPr lang="en-IN" sz="1600" dirty="0"/>
              </a:p>
            </p:txBody>
          </p:sp>
        </mc:Choice>
        <mc:Fallback>
          <p:sp>
            <p:nvSpPr>
              <p:cNvPr id="23" name="Text 12">
                <a:extLst>
                  <a:ext uri="{FF2B5EF4-FFF2-40B4-BE49-F238E27FC236}">
                    <a16:creationId xmlns:a16="http://schemas.microsoft.com/office/drawing/2014/main" id="{D1B2A24E-E0A3-6295-4BB0-22C14F1740BD}"/>
                  </a:ext>
                </a:extLst>
              </p:cNvPr>
              <p:cNvSpPr txBox="1">
                <a:spLocks noRot="1" noChangeAspect="1" noMove="1" noResize="1" noEditPoints="1" noAdjustHandles="1" noChangeArrowheads="1" noChangeShapeType="1" noTextEdit="1"/>
              </p:cNvSpPr>
              <p:nvPr/>
            </p:nvSpPr>
            <p:spPr>
              <a:xfrm>
                <a:off x="6519672" y="5500976"/>
                <a:ext cx="4663440" cy="365760"/>
              </a:xfrm>
              <a:prstGeom prst="rect">
                <a:avLst/>
              </a:prstGeom>
              <a:blipFill>
                <a:blip r:embed="rId4"/>
                <a:stretch>
                  <a:fillRect l="-2745" t="-66667" b="-75000"/>
                </a:stretch>
              </a:blipFill>
              <a:ln/>
            </p:spPr>
            <p:txBody>
              <a:bodyPr/>
              <a:lstStyle/>
              <a:p>
                <a:r>
                  <a:rPr lang="en-IN">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marL="0" indent="0" algn="ctr">
              <a:buNone/>
            </a:pPr>
            <a:r>
              <a:rPr lang="en-US" sz="1500" b="1" kern="0" spc="100" dirty="0">
                <a:solidFill>
                  <a:srgbClr val="1E2761"/>
                </a:solidFill>
                <a:ea typeface="Calibri" pitchFamily="34" charset="-122"/>
                <a:cs typeface="Calibri" pitchFamily="34" charset="-120"/>
              </a:rPr>
              <a:t>WHAT WE HAVE DONE SO FAR</a:t>
            </a:r>
            <a:endParaRPr lang="en-US" sz="1500" dirty="0"/>
          </a:p>
        </p:txBody>
      </p:sp>
      <p:sp>
        <p:nvSpPr>
          <p:cNvPr id="3" name="Text 1"/>
          <p:cNvSpPr txBox="1"/>
          <p:nvPr/>
        </p:nvSpPr>
        <p:spPr>
          <a:xfrm>
            <a:off x="548640" y="1008126"/>
            <a:ext cx="11091672" cy="822960"/>
          </a:xfrm>
          <a:prstGeom prst="rect">
            <a:avLst/>
          </a:prstGeom>
          <a:noFill/>
          <a:ln/>
        </p:spPr>
        <p:txBody>
          <a:bodyPr wrap="square" lIns="0" tIns="0" rIns="0" bIns="0" rtlCol="0" anchor="ctr"/>
          <a:lstStyle/>
          <a:p>
            <a:pPr algn="ctr"/>
            <a:r>
              <a:rPr lang="en-US" sz="2800" dirty="0"/>
              <a:t>Traffic Forecasting , SUMO Simulation, Driver Web App, Algorithmic layer</a:t>
            </a:r>
          </a:p>
        </p:txBody>
      </p:sp>
      <p:sp>
        <p:nvSpPr>
          <p:cNvPr id="4" name="Text 2"/>
          <p:cNvSpPr txBox="1"/>
          <p:nvPr/>
        </p:nvSpPr>
        <p:spPr>
          <a:xfrm>
            <a:off x="548639" y="2481942"/>
            <a:ext cx="10969445" cy="2350117"/>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22222"/>
                </a:solidFill>
                <a:ea typeface="Calibri" pitchFamily="34" charset="-122"/>
                <a:cs typeface="Calibri" pitchFamily="34" charset="-120"/>
              </a:rPr>
              <a:t>Traffic Forecasting – This has been done using Graph </a:t>
            </a:r>
            <a:r>
              <a:rPr lang="en-US" sz="2000" dirty="0" err="1">
                <a:solidFill>
                  <a:srgbClr val="222222"/>
                </a:solidFill>
                <a:ea typeface="Calibri" pitchFamily="34" charset="-122"/>
                <a:cs typeface="Calibri" pitchFamily="34" charset="-120"/>
              </a:rPr>
              <a:t>WaveNet</a:t>
            </a:r>
            <a:r>
              <a:rPr lang="en-US" sz="2000" dirty="0">
                <a:solidFill>
                  <a:srgbClr val="222222"/>
                </a:solidFill>
                <a:ea typeface="Calibri" pitchFamily="34" charset="-122"/>
                <a:cs typeface="Calibri" pitchFamily="34" charset="-120"/>
              </a:rPr>
              <a:t> using METR-LA | PEMS-BAY Datasets</a:t>
            </a:r>
            <a:endParaRPr lang="en-US" sz="2000" dirty="0"/>
          </a:p>
          <a:p>
            <a:pPr marL="342900" indent="-342900">
              <a:spcAft>
                <a:spcPts val="1000"/>
              </a:spcAft>
              <a:buSzPct val="100000"/>
              <a:buChar char="•"/>
            </a:pPr>
            <a:r>
              <a:rPr lang="en-US" sz="2000" dirty="0">
                <a:solidFill>
                  <a:srgbClr val="222222"/>
                </a:solidFill>
                <a:ea typeface="Calibri" pitchFamily="34" charset="-122"/>
                <a:cs typeface="Calibri" pitchFamily="34" charset="-120"/>
              </a:rPr>
              <a:t>SUMO Simulation of Traffic and Ambulance routing.</a:t>
            </a:r>
          </a:p>
          <a:p>
            <a:pPr marL="342900" indent="-342900">
              <a:spcAft>
                <a:spcPts val="1000"/>
              </a:spcAft>
              <a:buSzPct val="100000"/>
              <a:buChar char="•"/>
            </a:pPr>
            <a:r>
              <a:rPr lang="en-US" sz="2000" dirty="0"/>
              <a:t>Web Application with Google-Map like routing and live-dashboard.</a:t>
            </a:r>
          </a:p>
          <a:p>
            <a:pPr marL="342900" indent="-342900">
              <a:spcAft>
                <a:spcPts val="1000"/>
              </a:spcAft>
              <a:buSzPct val="100000"/>
              <a:buChar char="•"/>
            </a:pPr>
            <a:r>
              <a:rPr lang="en-US" sz="2000" dirty="0">
                <a:solidFill>
                  <a:srgbClr val="222222"/>
                </a:solidFill>
                <a:ea typeface="Calibri" pitchFamily="34" charset="-122"/>
                <a:cs typeface="Calibri" pitchFamily="34" charset="-120"/>
              </a:rPr>
              <a:t>Algorithmic Intelligence Layer.</a:t>
            </a:r>
            <a:endParaRPr lang="en-US" sz="2000" dirty="0"/>
          </a:p>
        </p:txBody>
      </p:sp>
      <p:sp>
        <p:nvSpPr>
          <p:cNvPr id="19" name="Text 17"/>
          <p:cNvSpPr txBox="1"/>
          <p:nvPr/>
        </p:nvSpPr>
        <p:spPr>
          <a:xfrm>
            <a:off x="11183112" y="6537960"/>
            <a:ext cx="457200" cy="274320"/>
          </a:xfrm>
          <a:prstGeom prst="rect">
            <a:avLst/>
          </a:prstGeom>
          <a:noFill/>
          <a:ln/>
        </p:spPr>
        <p:txBody>
          <a:bodyPr wrap="square" lIns="0" tIns="0" rIns="0" bIns="0" rtlCol="0" anchor="ctr"/>
          <a:lstStyle/>
          <a:p>
            <a:pPr marL="0" indent="0" algn="r">
              <a:buNone/>
            </a:pPr>
            <a:r>
              <a:rPr lang="en-US" sz="1100" dirty="0">
                <a:solidFill>
                  <a:srgbClr val="6B6B6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31CD0-882A-2A5C-5FB2-B5E79DA210F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92559D-3A66-7C7A-A819-07D0636BF9F1}"/>
              </a:ext>
            </a:extLst>
          </p:cNvPr>
          <p:cNvSpPr txBox="1"/>
          <p:nvPr/>
        </p:nvSpPr>
        <p:spPr>
          <a:xfrm>
            <a:off x="548640" y="411480"/>
            <a:ext cx="11091672" cy="320040"/>
          </a:xfrm>
          <a:prstGeom prst="rect">
            <a:avLst/>
          </a:prstGeom>
          <a:noFill/>
          <a:ln/>
        </p:spPr>
        <p:txBody>
          <a:bodyPr wrap="square" lIns="0" tIns="0" rIns="0" bIns="0" rtlCol="0" anchor="ctr"/>
          <a:lstStyle/>
          <a:p>
            <a:pPr marL="0" indent="0" algn="ctr">
              <a:buNone/>
            </a:pPr>
            <a:r>
              <a:rPr lang="en-US" sz="1500" b="1" kern="0" spc="100" dirty="0">
                <a:solidFill>
                  <a:srgbClr val="1E2761"/>
                </a:solidFill>
                <a:ea typeface="Calibri" pitchFamily="34" charset="-122"/>
                <a:cs typeface="Calibri" pitchFamily="34" charset="-120"/>
              </a:rPr>
              <a:t>WHAT WE HAVE DONE SO FAR</a:t>
            </a:r>
            <a:endParaRPr lang="en-US" sz="1500" dirty="0"/>
          </a:p>
        </p:txBody>
      </p:sp>
      <p:sp>
        <p:nvSpPr>
          <p:cNvPr id="3" name="Text 1">
            <a:extLst>
              <a:ext uri="{FF2B5EF4-FFF2-40B4-BE49-F238E27FC236}">
                <a16:creationId xmlns:a16="http://schemas.microsoft.com/office/drawing/2014/main" id="{68D0B9DB-C5A6-99A6-4A81-51521CB00EDA}"/>
              </a:ext>
            </a:extLst>
          </p:cNvPr>
          <p:cNvSpPr txBox="1"/>
          <p:nvPr/>
        </p:nvSpPr>
        <p:spPr>
          <a:xfrm>
            <a:off x="548640" y="1008126"/>
            <a:ext cx="11091672" cy="822960"/>
          </a:xfrm>
          <a:prstGeom prst="rect">
            <a:avLst/>
          </a:prstGeom>
          <a:noFill/>
          <a:ln/>
        </p:spPr>
        <p:txBody>
          <a:bodyPr wrap="square" lIns="0" tIns="0" rIns="0" bIns="0" rtlCol="0" anchor="ctr"/>
          <a:lstStyle/>
          <a:p>
            <a:pPr algn="ctr"/>
            <a:r>
              <a:rPr lang="en-US" sz="2800" dirty="0"/>
              <a:t>Traffic Forecasting , SUMO Simulation, Driver Web App, Algorithmic layer</a:t>
            </a:r>
          </a:p>
        </p:txBody>
      </p:sp>
      <p:sp>
        <p:nvSpPr>
          <p:cNvPr id="19" name="Text 17">
            <a:extLst>
              <a:ext uri="{FF2B5EF4-FFF2-40B4-BE49-F238E27FC236}">
                <a16:creationId xmlns:a16="http://schemas.microsoft.com/office/drawing/2014/main" id="{F7A44ADE-7710-B552-1520-656E59FFB263}"/>
              </a:ext>
            </a:extLst>
          </p:cNvPr>
          <p:cNvSpPr txBox="1"/>
          <p:nvPr/>
        </p:nvSpPr>
        <p:spPr>
          <a:xfrm>
            <a:off x="11183112" y="6537960"/>
            <a:ext cx="457200" cy="274320"/>
          </a:xfrm>
          <a:prstGeom prst="rect">
            <a:avLst/>
          </a:prstGeom>
          <a:noFill/>
          <a:ln/>
        </p:spPr>
        <p:txBody>
          <a:bodyPr wrap="square" lIns="0" tIns="0" rIns="0" bIns="0" rtlCol="0" anchor="ctr"/>
          <a:lstStyle/>
          <a:p>
            <a:pPr marL="0" indent="0" algn="r">
              <a:buNone/>
            </a:pPr>
            <a:r>
              <a:rPr lang="en-US" sz="1100" dirty="0">
                <a:solidFill>
                  <a:srgbClr val="6B6B6B"/>
                </a:solidFill>
                <a:latin typeface="Calibri" pitchFamily="34" charset="0"/>
                <a:ea typeface="Calibri" pitchFamily="34" charset="-122"/>
                <a:cs typeface="Calibri" pitchFamily="34" charset="-120"/>
              </a:rPr>
              <a:t>4</a:t>
            </a:r>
            <a:endParaRPr lang="en-US" sz="1100" dirty="0"/>
          </a:p>
        </p:txBody>
      </p:sp>
      <p:pic>
        <p:nvPicPr>
          <p:cNvPr id="8" name="Picture 7" descr="Generated image 1">
            <a:extLst>
              <a:ext uri="{FF2B5EF4-FFF2-40B4-BE49-F238E27FC236}">
                <a16:creationId xmlns:a16="http://schemas.microsoft.com/office/drawing/2014/main" id="{E81CA42D-457A-232F-3A01-BFDD358AFA5D}"/>
              </a:ext>
            </a:extLst>
          </p:cNvPr>
          <p:cNvPicPr>
            <a:picLocks noChangeAspect="1"/>
          </p:cNvPicPr>
          <p:nvPr/>
        </p:nvPicPr>
        <p:blipFill>
          <a:blip r:embed="rId3"/>
          <a:stretch>
            <a:fillRect/>
          </a:stretch>
        </p:blipFill>
        <p:spPr>
          <a:xfrm>
            <a:off x="3898571" y="2455794"/>
            <a:ext cx="6360354" cy="4812167"/>
          </a:xfrm>
          <a:prstGeom prst="rect">
            <a:avLst/>
          </a:prstGeom>
        </p:spPr>
      </p:pic>
      <p:sp>
        <p:nvSpPr>
          <p:cNvPr id="11" name="TextBox 10">
            <a:extLst>
              <a:ext uri="{FF2B5EF4-FFF2-40B4-BE49-F238E27FC236}">
                <a16:creationId xmlns:a16="http://schemas.microsoft.com/office/drawing/2014/main" id="{35D8CDF0-64BE-7ABF-373A-9C8DA828ED11}"/>
              </a:ext>
            </a:extLst>
          </p:cNvPr>
          <p:cNvSpPr txBox="1"/>
          <p:nvPr/>
        </p:nvSpPr>
        <p:spPr>
          <a:xfrm>
            <a:off x="5440258" y="6446520"/>
            <a:ext cx="1308435" cy="369332"/>
          </a:xfrm>
          <a:prstGeom prst="rect">
            <a:avLst/>
          </a:prstGeom>
          <a:noFill/>
        </p:spPr>
        <p:txBody>
          <a:bodyPr wrap="none" rtlCol="0">
            <a:spAutoFit/>
          </a:bodyPr>
          <a:lstStyle/>
          <a:p>
            <a:r>
              <a:rPr lang="en-IN" dirty="0"/>
              <a:t>Architecture</a:t>
            </a:r>
          </a:p>
        </p:txBody>
      </p:sp>
    </p:spTree>
    <p:extLst>
      <p:ext uri="{BB962C8B-B14F-4D97-AF65-F5344CB8AC3E}">
        <p14:creationId xmlns:p14="http://schemas.microsoft.com/office/powerpoint/2010/main" val="4111528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marL="0" indent="0" algn="ctr">
              <a:buNone/>
            </a:pPr>
            <a:r>
              <a:rPr lang="en-US" sz="1500" b="1" kern="0" spc="100" dirty="0">
                <a:solidFill>
                  <a:srgbClr val="1E2761"/>
                </a:solidFill>
                <a:ea typeface="Calibri" pitchFamily="34" charset="-122"/>
                <a:cs typeface="Calibri" pitchFamily="34" charset="-120"/>
              </a:rPr>
              <a:t>WHAT WE HAVE DONE SO FAR</a:t>
            </a:r>
            <a:endParaRPr lang="en-US" sz="1500" dirty="0"/>
          </a:p>
        </p:txBody>
      </p:sp>
      <p:sp>
        <p:nvSpPr>
          <p:cNvPr id="3" name="Text 1"/>
          <p:cNvSpPr txBox="1"/>
          <p:nvPr/>
        </p:nvSpPr>
        <p:spPr>
          <a:xfrm>
            <a:off x="548640" y="731520"/>
            <a:ext cx="11091672" cy="822960"/>
          </a:xfrm>
          <a:prstGeom prst="rect">
            <a:avLst/>
          </a:prstGeom>
          <a:noFill/>
          <a:ln/>
        </p:spPr>
        <p:txBody>
          <a:bodyPr wrap="square" lIns="0" tIns="0" rIns="0" bIns="0" rtlCol="0" anchor="ctr"/>
          <a:lstStyle/>
          <a:p>
            <a:pPr marL="0" indent="0" algn="ctr">
              <a:buNone/>
            </a:pPr>
            <a:r>
              <a:rPr lang="en-US" sz="3200" b="1" dirty="0">
                <a:solidFill>
                  <a:srgbClr val="222222"/>
                </a:solidFill>
                <a:ea typeface="Cambria" pitchFamily="34" charset="-122"/>
              </a:rPr>
              <a:t>Traffic Forecasting</a:t>
            </a:r>
            <a:endParaRPr lang="en-US" sz="3200" dirty="0"/>
          </a:p>
        </p:txBody>
      </p:sp>
      <p:sp>
        <p:nvSpPr>
          <p:cNvPr id="5" name="Text 3"/>
          <p:cNvSpPr txBox="1"/>
          <p:nvPr/>
        </p:nvSpPr>
        <p:spPr>
          <a:xfrm>
            <a:off x="723900" y="2171700"/>
            <a:ext cx="7118169" cy="1143000"/>
          </a:xfrm>
          <a:prstGeom prst="rect">
            <a:avLst/>
          </a:prstGeom>
          <a:noFill/>
          <a:ln/>
        </p:spPr>
        <p:txBody>
          <a:bodyPr wrap="square" lIns="0" tIns="0" rIns="0" bIns="0" rtlCol="0" anchor="ctr"/>
          <a:lstStyle/>
          <a:p>
            <a:r>
              <a:rPr lang="en-US" b="1" dirty="0">
                <a:solidFill>
                  <a:srgbClr val="222222"/>
                </a:solidFill>
                <a:ea typeface="Calibri" pitchFamily="34" charset="-122"/>
                <a:cs typeface="Calibri" pitchFamily="34" charset="-120"/>
              </a:rPr>
              <a:t>Datasets</a:t>
            </a:r>
            <a:r>
              <a:rPr lang="en-US" dirty="0">
                <a:solidFill>
                  <a:srgbClr val="222222"/>
                </a:solidFill>
                <a:ea typeface="Calibri" pitchFamily="34" charset="-122"/>
                <a:cs typeface="Calibri" pitchFamily="34" charset="-120"/>
              </a:rPr>
              <a:t>: </a:t>
            </a:r>
          </a:p>
          <a:p>
            <a:r>
              <a:rPr lang="en-IN" dirty="0"/>
              <a:t>METR-LA: https://www.kaggle.com/datasets/annnnguyen/metr-la-dataset</a:t>
            </a:r>
          </a:p>
          <a:p>
            <a:r>
              <a:rPr lang="en-US" dirty="0"/>
              <a:t>PEMS-BAY: https://www.kaggle.com/datasets/scchuy/pemsbay</a:t>
            </a:r>
          </a:p>
          <a:p>
            <a:r>
              <a:rPr lang="en-IN" dirty="0"/>
              <a:t> </a:t>
            </a:r>
            <a:endParaRPr lang="en-US" dirty="0"/>
          </a:p>
        </p:txBody>
      </p:sp>
      <p:sp>
        <p:nvSpPr>
          <p:cNvPr id="7" name="Text 5"/>
          <p:cNvSpPr txBox="1"/>
          <p:nvPr/>
        </p:nvSpPr>
        <p:spPr>
          <a:xfrm>
            <a:off x="802902" y="3231341"/>
            <a:ext cx="6817803" cy="2213113"/>
          </a:xfrm>
          <a:prstGeom prst="rect">
            <a:avLst/>
          </a:prstGeom>
          <a:noFill/>
          <a:ln/>
        </p:spPr>
        <p:txBody>
          <a:bodyPr wrap="square" lIns="0" tIns="0" rIns="0" bIns="0" rtlCol="0" anchor="ctr"/>
          <a:lstStyle/>
          <a:p>
            <a:r>
              <a:rPr lang="en-US" b="1" dirty="0">
                <a:solidFill>
                  <a:srgbClr val="222222"/>
                </a:solidFill>
                <a:ea typeface="Calibri" pitchFamily="34" charset="-122"/>
                <a:cs typeface="Calibri" pitchFamily="34" charset="-120"/>
              </a:rPr>
              <a:t>Model</a:t>
            </a:r>
            <a:r>
              <a:rPr lang="en-US" dirty="0">
                <a:solidFill>
                  <a:srgbClr val="222222"/>
                </a:solidFill>
                <a:ea typeface="Calibri" pitchFamily="34" charset="-122"/>
                <a:cs typeface="Calibri" pitchFamily="34" charset="-120"/>
              </a:rPr>
              <a:t>:</a:t>
            </a:r>
            <a:br>
              <a:rPr lang="en-IN" dirty="0"/>
            </a:br>
            <a:r>
              <a:rPr lang="en-IN" dirty="0"/>
              <a:t>Graph </a:t>
            </a:r>
            <a:r>
              <a:rPr lang="en-IN" dirty="0" err="1"/>
              <a:t>WaveNet</a:t>
            </a:r>
            <a:r>
              <a:rPr lang="en-IN" dirty="0"/>
              <a:t> — </a:t>
            </a:r>
            <a:r>
              <a:rPr lang="en-IN" dirty="0" err="1"/>
              <a:t>spatio</a:t>
            </a:r>
            <a:r>
              <a:rPr lang="en-IN" dirty="0"/>
              <a:t>-temporal speed forecasting</a:t>
            </a:r>
          </a:p>
          <a:p>
            <a:pPr lvl="0"/>
            <a:r>
              <a:rPr lang="en-IN" dirty="0"/>
              <a:t>Input: last 60 min of speeds across 120 monitored road segments</a:t>
            </a:r>
          </a:p>
          <a:p>
            <a:pPr lvl="0"/>
            <a:r>
              <a:rPr lang="en-IN" dirty="0"/>
              <a:t>Output: speed for each segment at +5 / +15 / +30 / +60 min, with a calibrated confidence band</a:t>
            </a:r>
          </a:p>
          <a:p>
            <a:endParaRPr lang="en-US" dirty="0"/>
          </a:p>
        </p:txBody>
      </p:sp>
      <p:sp>
        <p:nvSpPr>
          <p:cNvPr id="19" name="Text 17"/>
          <p:cNvSpPr txBox="1"/>
          <p:nvPr/>
        </p:nvSpPr>
        <p:spPr>
          <a:xfrm>
            <a:off x="11183112" y="6537960"/>
            <a:ext cx="457200" cy="274320"/>
          </a:xfrm>
          <a:prstGeom prst="rect">
            <a:avLst/>
          </a:prstGeom>
          <a:noFill/>
          <a:ln/>
        </p:spPr>
        <p:txBody>
          <a:bodyPr wrap="square" lIns="0" tIns="0" rIns="0" bIns="0" rtlCol="0" anchor="ctr"/>
          <a:lstStyle/>
          <a:p>
            <a:pPr marL="0" indent="0" algn="r">
              <a:buNone/>
            </a:pPr>
            <a:r>
              <a:rPr lang="en-US" sz="1100" dirty="0">
                <a:solidFill>
                  <a:srgbClr val="6B6B6B"/>
                </a:solidFill>
                <a:latin typeface="Calibri" pitchFamily="34" charset="0"/>
                <a:ea typeface="Calibri" pitchFamily="34" charset="-122"/>
                <a:cs typeface="Calibri" pitchFamily="34" charset="-120"/>
              </a:rPr>
              <a:t>5</a:t>
            </a:r>
            <a:endParaRPr lang="en-US" sz="1100" dirty="0"/>
          </a:p>
        </p:txBody>
      </p:sp>
      <p:pic>
        <p:nvPicPr>
          <p:cNvPr id="18" name="Picture 17">
            <a:extLst>
              <a:ext uri="{FF2B5EF4-FFF2-40B4-BE49-F238E27FC236}">
                <a16:creationId xmlns:a16="http://schemas.microsoft.com/office/drawing/2014/main" id="{2DF07A42-0D8D-55D3-2800-AC11C788F17D}"/>
              </a:ext>
            </a:extLst>
          </p:cNvPr>
          <p:cNvPicPr>
            <a:picLocks noChangeAspect="1"/>
          </p:cNvPicPr>
          <p:nvPr/>
        </p:nvPicPr>
        <p:blipFill>
          <a:blip r:embed="rId3"/>
          <a:stretch>
            <a:fillRect/>
          </a:stretch>
        </p:blipFill>
        <p:spPr>
          <a:xfrm>
            <a:off x="7699706" y="2114550"/>
            <a:ext cx="4418815" cy="1691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marL="0" indent="0" algn="ctr">
              <a:buNone/>
            </a:pPr>
            <a:r>
              <a:rPr lang="en-US" sz="1500" b="1" kern="0" spc="100" dirty="0">
                <a:solidFill>
                  <a:srgbClr val="1E2761"/>
                </a:solidFill>
                <a:ea typeface="Calibri" pitchFamily="34" charset="-122"/>
                <a:cs typeface="Calibri" pitchFamily="34" charset="-120"/>
              </a:rPr>
              <a:t>WHAT WE PLAN TO DO NEXT</a:t>
            </a:r>
            <a:endParaRPr lang="en-US" sz="1500" dirty="0"/>
          </a:p>
        </p:txBody>
      </p:sp>
      <p:sp>
        <p:nvSpPr>
          <p:cNvPr id="3" name="Text 1"/>
          <p:cNvSpPr txBox="1"/>
          <p:nvPr/>
        </p:nvSpPr>
        <p:spPr>
          <a:xfrm>
            <a:off x="548640" y="731520"/>
            <a:ext cx="11091672" cy="822960"/>
          </a:xfrm>
          <a:prstGeom prst="rect">
            <a:avLst/>
          </a:prstGeom>
          <a:noFill/>
          <a:ln/>
        </p:spPr>
        <p:txBody>
          <a:bodyPr wrap="square" lIns="0" tIns="0" rIns="0" bIns="0" rtlCol="0" anchor="ctr"/>
          <a:lstStyle/>
          <a:p>
            <a:pPr marL="0" indent="0" algn="ctr">
              <a:buNone/>
            </a:pPr>
            <a:r>
              <a:rPr lang="en-US" sz="3200" b="1" dirty="0">
                <a:solidFill>
                  <a:srgbClr val="222222"/>
                </a:solidFill>
                <a:ea typeface="Cambria" pitchFamily="34" charset="-122"/>
                <a:cs typeface="Cambria" pitchFamily="34" charset="-120"/>
              </a:rPr>
              <a:t>Web Dashboard</a:t>
            </a:r>
            <a:endParaRPr lang="en-US" sz="3200" dirty="0"/>
          </a:p>
        </p:txBody>
      </p:sp>
      <p:sp>
        <p:nvSpPr>
          <p:cNvPr id="15" name="Text 12"/>
          <p:cNvSpPr txBox="1"/>
          <p:nvPr/>
        </p:nvSpPr>
        <p:spPr>
          <a:xfrm>
            <a:off x="11183112" y="6537960"/>
            <a:ext cx="457200" cy="274320"/>
          </a:xfrm>
          <a:prstGeom prst="rect">
            <a:avLst/>
          </a:prstGeom>
          <a:noFill/>
          <a:ln/>
        </p:spPr>
        <p:txBody>
          <a:bodyPr wrap="square" lIns="0" tIns="0" rIns="0" bIns="0" rtlCol="0" anchor="ctr"/>
          <a:lstStyle/>
          <a:p>
            <a:pPr marL="0" indent="0" algn="r">
              <a:buNone/>
            </a:pPr>
            <a:r>
              <a:rPr lang="en-US" sz="1100" dirty="0">
                <a:solidFill>
                  <a:srgbClr val="6B6B6B"/>
                </a:solidFill>
                <a:latin typeface="Calibri" pitchFamily="34" charset="0"/>
                <a:ea typeface="Calibri" pitchFamily="34" charset="-122"/>
                <a:cs typeface="Calibri" pitchFamily="34" charset="-120"/>
              </a:rPr>
              <a:t>7</a:t>
            </a:r>
            <a:endParaRPr lang="en-US" sz="1100" dirty="0"/>
          </a:p>
        </p:txBody>
      </p:sp>
      <p:pic>
        <p:nvPicPr>
          <p:cNvPr id="5" name="Picture 4">
            <a:extLst>
              <a:ext uri="{FF2B5EF4-FFF2-40B4-BE49-F238E27FC236}">
                <a16:creationId xmlns:a16="http://schemas.microsoft.com/office/drawing/2014/main" id="{926F50FF-700A-A05B-51C8-02E5B53B55D6}"/>
              </a:ext>
            </a:extLst>
          </p:cNvPr>
          <p:cNvPicPr>
            <a:picLocks noChangeAspect="1"/>
          </p:cNvPicPr>
          <p:nvPr/>
        </p:nvPicPr>
        <p:blipFill>
          <a:blip r:embed="rId3"/>
          <a:stretch>
            <a:fillRect/>
          </a:stretch>
        </p:blipFill>
        <p:spPr>
          <a:xfrm>
            <a:off x="2419819" y="2567031"/>
            <a:ext cx="7435380" cy="3559449"/>
          </a:xfrm>
          <a:prstGeom prst="rect">
            <a:avLst/>
          </a:prstGeom>
        </p:spPr>
      </p:pic>
      <p:sp>
        <p:nvSpPr>
          <p:cNvPr id="6" name="TextBox 5">
            <a:extLst>
              <a:ext uri="{FF2B5EF4-FFF2-40B4-BE49-F238E27FC236}">
                <a16:creationId xmlns:a16="http://schemas.microsoft.com/office/drawing/2014/main" id="{A25A0037-E984-00DD-02AF-2E6BAEEA6703}"/>
              </a:ext>
            </a:extLst>
          </p:cNvPr>
          <p:cNvSpPr txBox="1"/>
          <p:nvPr/>
        </p:nvSpPr>
        <p:spPr>
          <a:xfrm>
            <a:off x="3021487" y="2013358"/>
            <a:ext cx="6145978" cy="369332"/>
          </a:xfrm>
          <a:prstGeom prst="rect">
            <a:avLst/>
          </a:prstGeom>
          <a:noFill/>
        </p:spPr>
        <p:txBody>
          <a:bodyPr wrap="none" rtlCol="0">
            <a:spAutoFit/>
          </a:bodyPr>
          <a:lstStyle/>
          <a:p>
            <a:r>
              <a:rPr lang="en-IN" dirty="0"/>
              <a:t>An Web application for the Driver and Overall Emergency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53927"/>
            <a:ext cx="11091672" cy="320040"/>
          </a:xfrm>
          <a:prstGeom prst="rect">
            <a:avLst/>
          </a:prstGeom>
          <a:noFill/>
          <a:ln/>
        </p:spPr>
        <p:txBody>
          <a:bodyPr wrap="square" lIns="0" tIns="0" rIns="0" bIns="0" rtlCol="0" anchor="ctr"/>
          <a:lstStyle/>
          <a:p>
            <a:pPr marL="0" indent="0" algn="ctr">
              <a:buNone/>
            </a:pPr>
            <a:r>
              <a:rPr lang="en-US" sz="1500" b="1" kern="0" spc="100" dirty="0">
                <a:solidFill>
                  <a:srgbClr val="1E2761"/>
                </a:solidFill>
                <a:ea typeface="Calibri" pitchFamily="34" charset="-122"/>
                <a:cs typeface="Calibri" pitchFamily="34" charset="-120"/>
              </a:rPr>
              <a:t>WHAT WE HAVE DONE SO FAR</a:t>
            </a:r>
            <a:endParaRPr lang="en-US" sz="1500" dirty="0"/>
          </a:p>
        </p:txBody>
      </p:sp>
      <p:sp>
        <p:nvSpPr>
          <p:cNvPr id="3" name="Text 1"/>
          <p:cNvSpPr txBox="1"/>
          <p:nvPr/>
        </p:nvSpPr>
        <p:spPr>
          <a:xfrm>
            <a:off x="481965" y="702241"/>
            <a:ext cx="11091672" cy="822960"/>
          </a:xfrm>
          <a:prstGeom prst="rect">
            <a:avLst/>
          </a:prstGeom>
          <a:noFill/>
          <a:ln/>
        </p:spPr>
        <p:txBody>
          <a:bodyPr wrap="square" lIns="0" tIns="0" rIns="0" bIns="0" rtlCol="0" anchor="ctr"/>
          <a:lstStyle/>
          <a:p>
            <a:pPr marL="0" indent="0" algn="ctr">
              <a:buNone/>
            </a:pPr>
            <a:r>
              <a:rPr lang="en-US" sz="3200" b="1" dirty="0">
                <a:solidFill>
                  <a:srgbClr val="222222"/>
                </a:solidFill>
                <a:ea typeface="Cambria" pitchFamily="34" charset="-122"/>
                <a:cs typeface="Cambria" pitchFamily="34" charset="-120"/>
              </a:rPr>
              <a:t>SUMO Simulation</a:t>
            </a:r>
            <a:endParaRPr lang="en-US" sz="3200" dirty="0"/>
          </a:p>
        </p:txBody>
      </p:sp>
      <p:sp>
        <p:nvSpPr>
          <p:cNvPr id="18" name="Text 15"/>
          <p:cNvSpPr txBox="1"/>
          <p:nvPr/>
        </p:nvSpPr>
        <p:spPr>
          <a:xfrm>
            <a:off x="11183112" y="6537960"/>
            <a:ext cx="457200" cy="274320"/>
          </a:xfrm>
          <a:prstGeom prst="rect">
            <a:avLst/>
          </a:prstGeom>
          <a:noFill/>
          <a:ln/>
        </p:spPr>
        <p:txBody>
          <a:bodyPr wrap="square" lIns="0" tIns="0" rIns="0" bIns="0" rtlCol="0" anchor="ctr"/>
          <a:lstStyle/>
          <a:p>
            <a:pPr marL="0" indent="0" algn="r">
              <a:buNone/>
            </a:pPr>
            <a:r>
              <a:rPr lang="en-US" sz="1100" dirty="0">
                <a:solidFill>
                  <a:srgbClr val="6B6B6B"/>
                </a:solidFill>
                <a:latin typeface="Calibri" pitchFamily="34" charset="0"/>
                <a:ea typeface="Calibri" pitchFamily="34" charset="-122"/>
                <a:cs typeface="Calibri" pitchFamily="34" charset="-120"/>
              </a:rPr>
              <a:t>6</a:t>
            </a:r>
            <a:endParaRPr lang="en-US" sz="1100" dirty="0"/>
          </a:p>
        </p:txBody>
      </p:sp>
      <p:sp>
        <p:nvSpPr>
          <p:cNvPr id="21" name="Text 3">
            <a:extLst>
              <a:ext uri="{FF2B5EF4-FFF2-40B4-BE49-F238E27FC236}">
                <a16:creationId xmlns:a16="http://schemas.microsoft.com/office/drawing/2014/main" id="{E145D0A7-EFC2-2821-102D-B4AF607ECBFA}"/>
              </a:ext>
            </a:extLst>
          </p:cNvPr>
          <p:cNvSpPr txBox="1"/>
          <p:nvPr/>
        </p:nvSpPr>
        <p:spPr>
          <a:xfrm>
            <a:off x="180237" y="1606271"/>
            <a:ext cx="11828477" cy="1169339"/>
          </a:xfrm>
          <a:prstGeom prst="rect">
            <a:avLst/>
          </a:prstGeom>
          <a:noFill/>
          <a:ln/>
        </p:spPr>
        <p:txBody>
          <a:bodyPr wrap="square" lIns="0" tIns="0" rIns="0" bIns="0" rtlCol="0" anchor="ctr"/>
          <a:lstStyle/>
          <a:p>
            <a:r>
              <a:rPr lang="en-IN" dirty="0"/>
              <a:t>A SUMO simulation of Chennai's Thousand Lights area where an ambulance follows our Dijkstra-planned fastest route from Nungambakkam to Apollo Hospitals through real road layout and background traffic.</a:t>
            </a:r>
            <a:endParaRPr lang="en-US" dirty="0"/>
          </a:p>
        </p:txBody>
      </p:sp>
      <p:pic>
        <p:nvPicPr>
          <p:cNvPr id="7" name="Picture 6">
            <a:extLst>
              <a:ext uri="{FF2B5EF4-FFF2-40B4-BE49-F238E27FC236}">
                <a16:creationId xmlns:a16="http://schemas.microsoft.com/office/drawing/2014/main" id="{D9C08E98-5521-7D2E-9B37-368EABC98AE4}"/>
              </a:ext>
            </a:extLst>
          </p:cNvPr>
          <p:cNvPicPr>
            <a:picLocks noChangeAspect="1"/>
          </p:cNvPicPr>
          <p:nvPr/>
        </p:nvPicPr>
        <p:blipFill>
          <a:blip r:embed="rId3"/>
          <a:stretch>
            <a:fillRect/>
          </a:stretch>
        </p:blipFill>
        <p:spPr>
          <a:xfrm>
            <a:off x="2046214" y="2519803"/>
            <a:ext cx="8099571" cy="42924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3D9E3-ADEA-791D-61DA-36E28B19F0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69EF7FB-1DCA-D2C2-74A8-CF82D43FCF61}"/>
              </a:ext>
            </a:extLst>
          </p:cNvPr>
          <p:cNvSpPr txBox="1"/>
          <p:nvPr/>
        </p:nvSpPr>
        <p:spPr>
          <a:xfrm>
            <a:off x="548640" y="411480"/>
            <a:ext cx="11091672" cy="320040"/>
          </a:xfrm>
          <a:prstGeom prst="rect">
            <a:avLst/>
          </a:prstGeom>
          <a:noFill/>
          <a:ln/>
        </p:spPr>
        <p:txBody>
          <a:bodyPr wrap="square" lIns="0" tIns="0" rIns="0" bIns="0" rtlCol="0" anchor="ctr"/>
          <a:lstStyle/>
          <a:p>
            <a:pPr marL="0" indent="0" algn="ctr">
              <a:buNone/>
            </a:pPr>
            <a:r>
              <a:rPr lang="en-US" sz="1500" b="1" kern="0" spc="100" dirty="0">
                <a:solidFill>
                  <a:srgbClr val="1E2761"/>
                </a:solidFill>
                <a:ea typeface="Calibri" pitchFamily="34" charset="-122"/>
                <a:cs typeface="Calibri" pitchFamily="34" charset="-120"/>
              </a:rPr>
              <a:t>WHAT WE PLAN TO DO NEXT</a:t>
            </a:r>
            <a:endParaRPr lang="en-US" sz="1500" dirty="0"/>
          </a:p>
        </p:txBody>
      </p:sp>
      <p:sp>
        <p:nvSpPr>
          <p:cNvPr id="3" name="Text 1">
            <a:extLst>
              <a:ext uri="{FF2B5EF4-FFF2-40B4-BE49-F238E27FC236}">
                <a16:creationId xmlns:a16="http://schemas.microsoft.com/office/drawing/2014/main" id="{64E4A7BC-B43C-CA9C-7AE9-F7B2DE7531B6}"/>
              </a:ext>
            </a:extLst>
          </p:cNvPr>
          <p:cNvSpPr txBox="1"/>
          <p:nvPr/>
        </p:nvSpPr>
        <p:spPr>
          <a:xfrm>
            <a:off x="548640" y="821327"/>
            <a:ext cx="11091672" cy="822960"/>
          </a:xfrm>
          <a:prstGeom prst="rect">
            <a:avLst/>
          </a:prstGeom>
          <a:noFill/>
          <a:ln/>
        </p:spPr>
        <p:txBody>
          <a:bodyPr wrap="square" lIns="0" tIns="0" rIns="0" bIns="0" rtlCol="0" anchor="ctr"/>
          <a:lstStyle/>
          <a:p>
            <a:pPr marL="0" indent="0" algn="ctr">
              <a:buNone/>
            </a:pPr>
            <a:r>
              <a:rPr lang="en-US" sz="3200" b="1" dirty="0">
                <a:solidFill>
                  <a:srgbClr val="222222"/>
                </a:solidFill>
                <a:ea typeface="Cambria" pitchFamily="34" charset="-122"/>
                <a:cs typeface="Cambria" pitchFamily="34" charset="-120"/>
              </a:rPr>
              <a:t>Algorithmic Intelligence Layer</a:t>
            </a:r>
            <a:endParaRPr lang="en-US" sz="3200" dirty="0"/>
          </a:p>
        </p:txBody>
      </p:sp>
      <p:sp>
        <p:nvSpPr>
          <p:cNvPr id="15" name="Text 12">
            <a:extLst>
              <a:ext uri="{FF2B5EF4-FFF2-40B4-BE49-F238E27FC236}">
                <a16:creationId xmlns:a16="http://schemas.microsoft.com/office/drawing/2014/main" id="{9F660C91-4AF6-EB62-8418-675E1ACC5604}"/>
              </a:ext>
            </a:extLst>
          </p:cNvPr>
          <p:cNvSpPr txBox="1"/>
          <p:nvPr/>
        </p:nvSpPr>
        <p:spPr>
          <a:xfrm>
            <a:off x="11183112" y="6537960"/>
            <a:ext cx="457200" cy="274320"/>
          </a:xfrm>
          <a:prstGeom prst="rect">
            <a:avLst/>
          </a:prstGeom>
          <a:noFill/>
          <a:ln/>
        </p:spPr>
        <p:txBody>
          <a:bodyPr wrap="square" lIns="0" tIns="0" rIns="0" bIns="0" rtlCol="0" anchor="ctr"/>
          <a:lstStyle/>
          <a:p>
            <a:pPr marL="0" indent="0" algn="r">
              <a:buNone/>
            </a:pPr>
            <a:r>
              <a:rPr lang="en-US" sz="1100" dirty="0">
                <a:solidFill>
                  <a:srgbClr val="6B6B6B"/>
                </a:solidFill>
                <a:latin typeface="Calibri" pitchFamily="34" charset="0"/>
                <a:ea typeface="Calibri" pitchFamily="34" charset="-122"/>
                <a:cs typeface="Calibri" pitchFamily="34" charset="-120"/>
              </a:rPr>
              <a:t>7</a:t>
            </a:r>
            <a:endParaRPr lang="en-US" sz="1100" dirty="0"/>
          </a:p>
        </p:txBody>
      </p:sp>
      <p:sp>
        <p:nvSpPr>
          <p:cNvPr id="4" name="TextBox 3">
            <a:extLst>
              <a:ext uri="{FF2B5EF4-FFF2-40B4-BE49-F238E27FC236}">
                <a16:creationId xmlns:a16="http://schemas.microsoft.com/office/drawing/2014/main" id="{F1B8ABF0-15D9-8B17-4F61-94092DF4201B}"/>
              </a:ext>
            </a:extLst>
          </p:cNvPr>
          <p:cNvSpPr txBox="1"/>
          <p:nvPr/>
        </p:nvSpPr>
        <p:spPr>
          <a:xfrm>
            <a:off x="3481431" y="3624044"/>
            <a:ext cx="184731" cy="369332"/>
          </a:xfrm>
          <a:prstGeom prst="rect">
            <a:avLst/>
          </a:prstGeom>
          <a:noFill/>
        </p:spPr>
        <p:txBody>
          <a:bodyPr wrap="none" rtlCol="0">
            <a:spAutoFit/>
          </a:bodyPr>
          <a:lstStyle/>
          <a:p>
            <a:endParaRPr lang="en-IN"/>
          </a:p>
        </p:txBody>
      </p:sp>
      <p:sp>
        <p:nvSpPr>
          <p:cNvPr id="6" name="TextBox 5">
            <a:extLst>
              <a:ext uri="{FF2B5EF4-FFF2-40B4-BE49-F238E27FC236}">
                <a16:creationId xmlns:a16="http://schemas.microsoft.com/office/drawing/2014/main" id="{BF020775-3691-02A8-8E02-E5F6A1C1A823}"/>
              </a:ext>
            </a:extLst>
          </p:cNvPr>
          <p:cNvSpPr txBox="1"/>
          <p:nvPr/>
        </p:nvSpPr>
        <p:spPr>
          <a:xfrm>
            <a:off x="842674" y="1864739"/>
            <a:ext cx="10503604" cy="5078313"/>
          </a:xfrm>
          <a:prstGeom prst="rect">
            <a:avLst/>
          </a:prstGeom>
          <a:noFill/>
        </p:spPr>
        <p:txBody>
          <a:bodyPr wrap="square">
            <a:spAutoFit/>
          </a:bodyPr>
          <a:lstStyle/>
          <a:p>
            <a:pPr marL="285750" indent="-285750">
              <a:buFontTx/>
              <a:buChar char="-"/>
            </a:pPr>
            <a:r>
              <a:rPr lang="en-IN" dirty="0"/>
              <a:t>The routing algorithm family for RESQ: time-dependent Dijkstra (core, already implemented) + A* (speed) + D* Lite (fast incident replanning) — chosen over Genetic Algorithms, Ant Colony Optimization, and Reinforcement Learning after evaluating them against correctness, determinism, and explainability requirements.</a:t>
            </a:r>
          </a:p>
          <a:p>
            <a:pPr marL="285750" indent="-285750">
              <a:buFontTx/>
              <a:buChar char="-"/>
            </a:pPr>
            <a:endParaRPr lang="en-IN" dirty="0"/>
          </a:p>
          <a:p>
            <a:pPr marL="285750" indent="-285750">
              <a:buFontTx/>
              <a:buChar char="-"/>
            </a:pPr>
            <a:r>
              <a:rPr lang="en-IN" dirty="0"/>
              <a:t>Designed the fusion layer: combines multiple traffic-estimate sources (forecasting models, sensor/macro data) using confidence-weighted (inverse-variance) statistics, so the most certain source has the most influence on the final travel-time estimate.</a:t>
            </a:r>
          </a:p>
          <a:p>
            <a:pPr marL="285750" indent="-285750">
              <a:buFontTx/>
              <a:buChar char="-"/>
            </a:pPr>
            <a:endParaRPr lang="en-IN" dirty="0"/>
          </a:p>
          <a:p>
            <a:pPr marL="285750" indent="-285750">
              <a:buFontTx/>
              <a:buChar char="-"/>
            </a:pPr>
            <a:r>
              <a:rPr lang="en-IN" dirty="0"/>
              <a:t>Built the decision "brain": connects forecasting output → fusion → route selection → traffic-signal </a:t>
            </a:r>
            <a:r>
              <a:rPr lang="en-IN" dirty="0" err="1"/>
              <a:t>preemption</a:t>
            </a:r>
            <a:r>
              <a:rPr lang="en-IN" dirty="0"/>
              <a:t> end-to-end, so a real decision is produced from live model output instead of a scripted demo.</a:t>
            </a:r>
          </a:p>
          <a:p>
            <a:pPr marL="285750" indent="-285750">
              <a:buFontTx/>
              <a:buChar char="-"/>
            </a:pPr>
            <a:endParaRPr lang="en-IN" dirty="0"/>
          </a:p>
          <a:p>
            <a:pPr marL="285750" indent="-285750">
              <a:buFontTx/>
              <a:buChar char="-"/>
            </a:pPr>
            <a:r>
              <a:rPr lang="en-IN" dirty="0"/>
              <a:t>Proved fault-tolerance: the system keeps deciding correctly even if one forecasting model is disabled or fails, and falls back to safe static estimates if all models are unavailable.</a:t>
            </a:r>
          </a:p>
          <a:p>
            <a:endParaRPr lang="en-IN" dirty="0"/>
          </a:p>
          <a:p>
            <a:pPr marL="285750" indent="-285750">
              <a:buFontTx/>
              <a:buChar char="-"/>
            </a:pPr>
            <a:r>
              <a:rPr lang="en-IN" dirty="0"/>
              <a:t>Kept AI upstream of safety-critical logic: prediction/fusion can use statistical or learned models, but route-</a:t>
            </a:r>
            <a:r>
              <a:rPr lang="en-IN" dirty="0" err="1"/>
              <a:t>finng</a:t>
            </a:r>
            <a:r>
              <a:rPr lang="en-IN" dirty="0"/>
              <a:t> and signal control remain deterministic and fully explainable — critical for a safety-reviewed emergency system.</a:t>
            </a:r>
          </a:p>
          <a:p>
            <a:pPr marL="285750" indent="-285750">
              <a:buFontTx/>
              <a:buChar char="-"/>
            </a:pPr>
            <a:endParaRPr lang="en-IN" dirty="0"/>
          </a:p>
        </p:txBody>
      </p:sp>
    </p:spTree>
    <p:extLst>
      <p:ext uri="{BB962C8B-B14F-4D97-AF65-F5344CB8AC3E}">
        <p14:creationId xmlns:p14="http://schemas.microsoft.com/office/powerpoint/2010/main" val="2550888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640080"/>
            <a:ext cx="10579608" cy="822960"/>
          </a:xfrm>
          <a:prstGeom prst="rect">
            <a:avLst/>
          </a:prstGeom>
          <a:noFill/>
          <a:ln/>
        </p:spPr>
        <p:txBody>
          <a:bodyPr wrap="square" lIns="0" tIns="0" rIns="0" bIns="0" rtlCol="0" anchor="ctr"/>
          <a:lstStyle/>
          <a:p>
            <a:pPr marL="0" indent="0" algn="ctr">
              <a:buNone/>
            </a:pPr>
            <a:r>
              <a:rPr lang="en-US" sz="4200" b="1" dirty="0">
                <a:solidFill>
                  <a:srgbClr val="222222"/>
                </a:solidFill>
                <a:ea typeface="Cambria" pitchFamily="34" charset="-122"/>
                <a:cs typeface="Cambria" pitchFamily="34" charset="-120"/>
              </a:rPr>
              <a:t>Thank you</a:t>
            </a:r>
            <a:endParaRPr lang="en-US" sz="4200" dirty="0"/>
          </a:p>
        </p:txBody>
      </p:sp>
      <p:sp>
        <p:nvSpPr>
          <p:cNvPr id="3" name="Text 1"/>
          <p:cNvSpPr txBox="1"/>
          <p:nvPr/>
        </p:nvSpPr>
        <p:spPr>
          <a:xfrm>
            <a:off x="548640" y="1417320"/>
            <a:ext cx="11643360" cy="457200"/>
          </a:xfrm>
          <a:prstGeom prst="rect">
            <a:avLst/>
          </a:prstGeom>
          <a:noFill/>
          <a:ln/>
        </p:spPr>
        <p:txBody>
          <a:bodyPr wrap="square" lIns="0" tIns="0" rIns="0" bIns="0" rtlCol="0" anchor="ctr"/>
          <a:lstStyle/>
          <a:p>
            <a:pPr marL="0" indent="0">
              <a:buNone/>
            </a:pPr>
            <a:r>
              <a:rPr lang="en-US" i="1" dirty="0">
                <a:solidFill>
                  <a:srgbClr val="1E2761"/>
                </a:solidFill>
                <a:ea typeface="Calibri" pitchFamily="34" charset="-122"/>
                <a:cs typeface="Calibri" pitchFamily="34" charset="-120"/>
              </a:rPr>
              <a:t>Questions welcome. Each </a:t>
            </a:r>
            <a:r>
              <a:rPr lang="en-US" sz="2000" i="1" dirty="0">
                <a:solidFill>
                  <a:srgbClr val="1E2761"/>
                </a:solidFill>
                <a:ea typeface="Calibri" pitchFamily="34" charset="-122"/>
                <a:cs typeface="Calibri" pitchFamily="34" charset="-120"/>
              </a:rPr>
              <a:t>member</a:t>
            </a:r>
            <a:r>
              <a:rPr lang="en-US" i="1" dirty="0">
                <a:solidFill>
                  <a:srgbClr val="1E2761"/>
                </a:solidFill>
                <a:ea typeface="Calibri" pitchFamily="34" charset="-122"/>
                <a:cs typeface="Calibri" pitchFamily="34" charset="-120"/>
              </a:rPr>
              <a:t> answers for the modules they own.</a:t>
            </a:r>
            <a:endParaRPr lang="en-US" dirty="0"/>
          </a:p>
        </p:txBody>
      </p:sp>
      <p:sp>
        <p:nvSpPr>
          <p:cNvPr id="4" name="Text 2"/>
          <p:cNvSpPr txBox="1"/>
          <p:nvPr/>
        </p:nvSpPr>
        <p:spPr>
          <a:xfrm>
            <a:off x="548640" y="2148840"/>
            <a:ext cx="2377440" cy="548640"/>
          </a:xfrm>
          <a:prstGeom prst="rect">
            <a:avLst/>
          </a:prstGeom>
          <a:noFill/>
          <a:ln/>
        </p:spPr>
        <p:txBody>
          <a:bodyPr wrap="square" lIns="0" tIns="0" rIns="0" bIns="0" rtlCol="0" anchor="ctr"/>
          <a:lstStyle/>
          <a:p>
            <a:pPr marL="0" indent="0">
              <a:buNone/>
            </a:pPr>
            <a:r>
              <a:rPr lang="en-US" sz="1600" b="1" dirty="0">
                <a:solidFill>
                  <a:srgbClr val="1E2761"/>
                </a:solidFill>
                <a:ea typeface="Calibri" pitchFamily="34" charset="-122"/>
                <a:cs typeface="Calibri" pitchFamily="34" charset="-120"/>
              </a:rPr>
              <a:t>The problem</a:t>
            </a:r>
            <a:endParaRPr lang="en-US" sz="1600" dirty="0"/>
          </a:p>
        </p:txBody>
      </p:sp>
      <p:sp>
        <p:nvSpPr>
          <p:cNvPr id="5" name="Text 3"/>
          <p:cNvSpPr txBox="1"/>
          <p:nvPr/>
        </p:nvSpPr>
        <p:spPr>
          <a:xfrm>
            <a:off x="3017520" y="2148840"/>
            <a:ext cx="8686800" cy="548640"/>
          </a:xfrm>
          <a:prstGeom prst="rect">
            <a:avLst/>
          </a:prstGeom>
          <a:noFill/>
          <a:ln/>
        </p:spPr>
        <p:txBody>
          <a:bodyPr wrap="square" lIns="0" tIns="0" rIns="0" bIns="0" rtlCol="0" anchor="ctr"/>
          <a:lstStyle/>
          <a:p>
            <a:pPr marL="0" indent="0">
              <a:buNone/>
            </a:pPr>
            <a:r>
              <a:rPr lang="en-US" sz="1600" dirty="0">
                <a:solidFill>
                  <a:srgbClr val="222222"/>
                </a:solidFill>
                <a:ea typeface="Calibri" pitchFamily="34" charset="-122"/>
                <a:cs typeface="Calibri" pitchFamily="34" charset="-120"/>
              </a:rPr>
              <a:t>Ambulances lose minutes at junctions; traffic data is stale and preemption fires at the wrong moment.</a:t>
            </a:r>
            <a:endParaRPr lang="en-US" sz="1600" dirty="0"/>
          </a:p>
        </p:txBody>
      </p:sp>
      <p:sp>
        <p:nvSpPr>
          <p:cNvPr id="6" name="Text 4"/>
          <p:cNvSpPr txBox="1"/>
          <p:nvPr/>
        </p:nvSpPr>
        <p:spPr>
          <a:xfrm>
            <a:off x="548640" y="2834640"/>
            <a:ext cx="2377440" cy="548640"/>
          </a:xfrm>
          <a:prstGeom prst="rect">
            <a:avLst/>
          </a:prstGeom>
          <a:noFill/>
          <a:ln/>
        </p:spPr>
        <p:txBody>
          <a:bodyPr wrap="square" lIns="0" tIns="0" rIns="0" bIns="0" rtlCol="0" anchor="ctr"/>
          <a:lstStyle/>
          <a:p>
            <a:pPr marL="0" indent="0">
              <a:buNone/>
            </a:pPr>
            <a:r>
              <a:rPr lang="en-US" sz="1600" b="1" dirty="0">
                <a:solidFill>
                  <a:srgbClr val="1E2761"/>
                </a:solidFill>
                <a:ea typeface="Calibri" pitchFamily="34" charset="-122"/>
                <a:cs typeface="Calibri" pitchFamily="34" charset="-120"/>
              </a:rPr>
              <a:t>Our fix</a:t>
            </a:r>
            <a:endParaRPr lang="en-US" sz="1600" dirty="0"/>
          </a:p>
        </p:txBody>
      </p:sp>
      <p:sp>
        <p:nvSpPr>
          <p:cNvPr id="7" name="Text 5"/>
          <p:cNvSpPr txBox="1"/>
          <p:nvPr/>
        </p:nvSpPr>
        <p:spPr>
          <a:xfrm>
            <a:off x="3017520" y="2834640"/>
            <a:ext cx="8686800" cy="548640"/>
          </a:xfrm>
          <a:prstGeom prst="rect">
            <a:avLst/>
          </a:prstGeom>
          <a:noFill/>
          <a:ln/>
        </p:spPr>
        <p:txBody>
          <a:bodyPr wrap="square" lIns="0" tIns="0" rIns="0" bIns="0" rtlCol="0" anchor="ctr"/>
          <a:lstStyle/>
          <a:p>
            <a:pPr marL="0" indent="0">
              <a:buNone/>
            </a:pPr>
            <a:r>
              <a:rPr lang="en-US" sz="1600" dirty="0">
                <a:solidFill>
                  <a:srgbClr val="222222"/>
                </a:solidFill>
                <a:ea typeface="Calibri" pitchFamily="34" charset="-122"/>
                <a:cs typeface="Calibri" pitchFamily="34" charset="-120"/>
              </a:rPr>
              <a:t>Fuse a city forecast with onboard sensing, route on future traffic, clear junctions just in time, then repair cross traffic.</a:t>
            </a:r>
            <a:endParaRPr lang="en-US" sz="1600" dirty="0"/>
          </a:p>
        </p:txBody>
      </p:sp>
      <p:sp>
        <p:nvSpPr>
          <p:cNvPr id="8" name="Text 6"/>
          <p:cNvSpPr txBox="1"/>
          <p:nvPr/>
        </p:nvSpPr>
        <p:spPr>
          <a:xfrm>
            <a:off x="548640" y="3520440"/>
            <a:ext cx="2377440" cy="548640"/>
          </a:xfrm>
          <a:prstGeom prst="rect">
            <a:avLst/>
          </a:prstGeom>
          <a:noFill/>
          <a:ln/>
        </p:spPr>
        <p:txBody>
          <a:bodyPr wrap="square" lIns="0" tIns="0" rIns="0" bIns="0" rtlCol="0" anchor="ctr"/>
          <a:lstStyle/>
          <a:p>
            <a:pPr marL="0" indent="0">
              <a:buNone/>
            </a:pPr>
            <a:r>
              <a:rPr lang="en-US" sz="1600" b="1" dirty="0">
                <a:solidFill>
                  <a:srgbClr val="1E2761"/>
                </a:solidFill>
                <a:ea typeface="Calibri" pitchFamily="34" charset="-122"/>
                <a:cs typeface="Calibri" pitchFamily="34" charset="-120"/>
              </a:rPr>
              <a:t>Done so far</a:t>
            </a:r>
            <a:endParaRPr lang="en-US" sz="1600" dirty="0"/>
          </a:p>
        </p:txBody>
      </p:sp>
      <p:sp>
        <p:nvSpPr>
          <p:cNvPr id="9" name="Text 7"/>
          <p:cNvSpPr txBox="1"/>
          <p:nvPr/>
        </p:nvSpPr>
        <p:spPr>
          <a:xfrm>
            <a:off x="3017520" y="3520440"/>
            <a:ext cx="8686800" cy="548640"/>
          </a:xfrm>
          <a:prstGeom prst="rect">
            <a:avLst/>
          </a:prstGeom>
          <a:noFill/>
          <a:ln/>
        </p:spPr>
        <p:txBody>
          <a:bodyPr wrap="square" lIns="0" tIns="0" rIns="0" bIns="0" rtlCol="0" anchor="ctr"/>
          <a:lstStyle/>
          <a:p>
            <a:pPr marL="0" indent="0">
              <a:buNone/>
            </a:pPr>
            <a:r>
              <a:rPr lang="en-US" sz="1600" dirty="0">
                <a:solidFill>
                  <a:srgbClr val="222222"/>
                </a:solidFill>
                <a:ea typeface="Calibri" pitchFamily="34" charset="-122"/>
                <a:cs typeface="Calibri" pitchFamily="34" charset="-120"/>
              </a:rPr>
              <a:t>Full software slice running: 11 modules, 4 web workspaces, 21 tests, 180 recorded runs.</a:t>
            </a:r>
            <a:endParaRPr lang="en-US" sz="1600" dirty="0"/>
          </a:p>
        </p:txBody>
      </p:sp>
      <p:sp>
        <p:nvSpPr>
          <p:cNvPr id="10" name="Text 8"/>
          <p:cNvSpPr txBox="1"/>
          <p:nvPr/>
        </p:nvSpPr>
        <p:spPr>
          <a:xfrm>
            <a:off x="548640" y="4206240"/>
            <a:ext cx="2377440" cy="548640"/>
          </a:xfrm>
          <a:prstGeom prst="rect">
            <a:avLst/>
          </a:prstGeom>
          <a:noFill/>
          <a:ln/>
        </p:spPr>
        <p:txBody>
          <a:bodyPr wrap="square" lIns="0" tIns="0" rIns="0" bIns="0" rtlCol="0" anchor="ctr"/>
          <a:lstStyle/>
          <a:p>
            <a:pPr marL="0" indent="0">
              <a:buNone/>
            </a:pPr>
            <a:r>
              <a:rPr lang="en-US" sz="1600" b="1" dirty="0">
                <a:solidFill>
                  <a:srgbClr val="1E2761"/>
                </a:solidFill>
                <a:ea typeface="Calibri" pitchFamily="34" charset="-122"/>
                <a:cs typeface="Calibri" pitchFamily="34" charset="-120"/>
              </a:rPr>
              <a:t>Next</a:t>
            </a:r>
            <a:endParaRPr lang="en-US" sz="1600" dirty="0"/>
          </a:p>
        </p:txBody>
      </p:sp>
      <p:sp>
        <p:nvSpPr>
          <p:cNvPr id="11" name="Text 9"/>
          <p:cNvSpPr txBox="1"/>
          <p:nvPr/>
        </p:nvSpPr>
        <p:spPr>
          <a:xfrm>
            <a:off x="3017520" y="4206240"/>
            <a:ext cx="8686800" cy="548640"/>
          </a:xfrm>
          <a:prstGeom prst="rect">
            <a:avLst/>
          </a:prstGeom>
          <a:noFill/>
          <a:ln/>
        </p:spPr>
        <p:txBody>
          <a:bodyPr wrap="square" lIns="0" tIns="0" rIns="0" bIns="0" rtlCol="0" anchor="ctr"/>
          <a:lstStyle/>
          <a:p>
            <a:pPr marL="0" indent="0">
              <a:buNone/>
            </a:pPr>
            <a:r>
              <a:rPr lang="en-US" sz="1600" dirty="0">
                <a:solidFill>
                  <a:srgbClr val="222222"/>
                </a:solidFill>
                <a:ea typeface="Calibri" pitchFamily="34" charset="-122"/>
                <a:cs typeface="Calibri" pitchFamily="34" charset="-120"/>
              </a:rPr>
              <a:t>Verified Chennai network, trained models, CARLA in the loop, twenty-seed evaluation.</a:t>
            </a:r>
            <a:endParaRPr lang="en-US" sz="1600" dirty="0"/>
          </a:p>
        </p:txBody>
      </p:sp>
      <p:sp>
        <p:nvSpPr>
          <p:cNvPr id="12" name="Text 10"/>
          <p:cNvSpPr txBox="1"/>
          <p:nvPr/>
        </p:nvSpPr>
        <p:spPr>
          <a:xfrm>
            <a:off x="548640" y="5074920"/>
            <a:ext cx="11091672" cy="365760"/>
          </a:xfrm>
          <a:prstGeom prst="rect">
            <a:avLst/>
          </a:prstGeom>
          <a:noFill/>
          <a:ln/>
        </p:spPr>
        <p:txBody>
          <a:bodyPr wrap="square" lIns="0" tIns="0" rIns="0" bIns="0" rtlCol="0" anchor="ctr"/>
          <a:lstStyle/>
          <a:p>
            <a:pPr marL="0" indent="0">
              <a:buNone/>
            </a:pPr>
            <a:r>
              <a:rPr lang="en-US" sz="1600" i="1" dirty="0">
                <a:solidFill>
                  <a:srgbClr val="6B6B6B"/>
                </a:solidFill>
                <a:ea typeface="Calibri" pitchFamily="34" charset="-122"/>
                <a:cs typeface="Calibri" pitchFamily="34" charset="-120"/>
              </a:rPr>
              <a:t>Live demo ready: Live, Replay, Cab and Results pages, with the hidden-accident control on the Live page.</a:t>
            </a:r>
            <a:endParaRPr lang="en-US" sz="1600" dirty="0"/>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699</TotalTime>
  <Words>1168</Words>
  <Application>Microsoft Office PowerPoint</Application>
  <PresentationFormat>Widescreen</PresentationFormat>
  <Paragraphs>115</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Calibri</vt:lpstr>
      <vt:lpstr>Cambria</vt:lpstr>
      <vt:lpstr>Cambria Math</vt:lpstr>
      <vt:lpstr>Felix Titling</vt:lpstr>
      <vt:lpstr>Goudy Old Style</vt:lpstr>
      <vt:lpstr>Times New Roman</vt:lpstr>
      <vt:lpstr>Archway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Bhuvan AV</dc:creator>
  <cp:lastModifiedBy>JAYDON J P</cp:lastModifiedBy>
  <cp:revision>5</cp:revision>
  <dcterms:created xsi:type="dcterms:W3CDTF">2026-09-22T13:01:57Z</dcterms:created>
  <dcterms:modified xsi:type="dcterms:W3CDTF">2026-09-23T07:34:40Z</dcterms:modified>
</cp:coreProperties>
</file>
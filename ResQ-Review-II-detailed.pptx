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1A"/>
                </a:solidFill>
                <a:latin typeface="Calibri"/>
              </a:rPr>
              <a:t>Mean ambulance travel time in seconds,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ambulance travel time (s)</c:v>
                </c:pt>
              </c:strCache>
            </c:strRef>
          </c:tx>
          <c:spPr>
            <a:solidFill>
              <a:srgbClr val="1B5E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0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B0 none</c:v>
                  </c:pt>
                  <c:pt idx="1">
                    <c:v>B1 macro</c:v>
                  </c:pt>
                  <c:pt idx="2">
                    <c:v>B2 fixed</c:v>
                  </c:pt>
                  <c:pt idx="3">
                    <c:v>B3 fused + fixed</c:v>
                  </c:pt>
                  <c:pt idx="4">
                    <c:v>B4 JIT</c:v>
                  </c:pt>
                  <c:pt idx="5">
                    <c:v>B5 JIT + recovery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214.6</c:v>
                </c:pt>
                <c:pt idx="1">
                  <c:v>215.6</c:v>
                </c:pt>
                <c:pt idx="2">
                  <c:v>183.2</c:v>
                </c:pt>
                <c:pt idx="3">
                  <c:v>155.7</c:v>
                </c:pt>
                <c:pt idx="4">
                  <c:v>152.7</c:v>
                </c:pt>
                <c:pt idx="5">
                  <c:v>152.7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220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0"/>
        </c:scaling>
        <c:delete val="0"/>
        <c:axPos val="l"/>
        <c:majorGridlines>
          <c:spPr>
            <a:ln w="6350" cap="flat">
              <a:solidFill>
                <a:srgbClr val="D7E1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F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we route the ambulance on traffic predicted for the moment it arrives, and we turn the lights green only as late as is safe. Say up front that a working prototype runs today and can be shown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timing, not detection. Detecting an ambulance was solved decades ago; deciding when to act, and on which route,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how requirements were validated: each functional requirement has at least one automated test, and the safety requirement is asserted in every recorded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out-of-scope list is a safety and honesty decision, not a shortcut. A student project must never drive a real signal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answer the panel wants: one versioned contract, three interchangeable sources, and a deterministic controller at the end that machine learning can advise but never bypass.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panel asks why not simply trust the camera: it sees only the current road. The forecast covers the rest of the route, minutes before the ambulance gets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safety question before it is asked. The formula decides when, the state machine decides whether it is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defend two of these: SUMO over VISSIM on licence and scripting, and CARLA over pure SUMO because SUMO has no camera frames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running app here if the projector allows. Otherwise the screenshots carry the same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to run live if there is time. It is also the scenario that justifies the second input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replay page exists because a live demo can go wrong. Every recorded run replays deterministically from its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these numbers validate software integration, not Chennai traffic. That distinction is what separates this from a project that over-claims.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Innovation claim in one line: we decide when to preempt from traffic physics, and we prove it with a seeded matrix instead of one lucky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the prototype exists so early: building the skeleton first removes integration risk, which is the usual reason student projects fail in the last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placeholders with real names before the review. Each member should answer questions about their own modules, which is what the individual mark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next-steps list so the panel sees a project with momentum, then offer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this slide. Jump to it only if the matching question comes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if the panel asks for the numbers behind the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33482A"/>
          </a:solidFill>
          <a:ln w="9525">
            <a:solidFill>
              <a:srgbClr val="A9E3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REVIEW II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3444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RESQ</a:t>
            </a:r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-Green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957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ambulance routing with just-in-time green corridors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926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routing and signal-preemption platform that fuses city-scale traffic forecasts with what the ambulance itself can see, then clears only the intersections it will actually use.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977640"/>
            <a:ext cx="3383280" cy="786384"/>
          </a:xfrm>
          <a:prstGeom prst="roundRect">
            <a:avLst>
              <a:gd name="adj" fmla="val 8140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89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automated tests passing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977640"/>
            <a:ext cx="3383280" cy="786384"/>
          </a:xfrm>
          <a:prstGeom prst="roundRect">
            <a:avLst>
              <a:gd name="adj" fmla="val 8140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recorded runs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389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baselines x 6 scenarios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3977640"/>
            <a:ext cx="3383280" cy="786384"/>
          </a:xfrm>
          <a:prstGeom prst="roundRect">
            <a:avLst>
              <a:gd name="adj" fmla="val 8140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389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 Lights, Chennai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5257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&lt;Member 1&gt;   .   &lt;Member 2&gt;   .   &lt;Member 3&gt;          Guide:  &lt;Guide name&gt;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55961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II  .  23 September 2026  .  10 minutes, presentation and panel Q&amp;A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MOTIVATION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 decide outcomes, and junctions eat the minutes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72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396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on arrival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1401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ambulance meets green at fewer than half the junctions in our no-system baseline runs (B0, 30 runs).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41732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572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1.87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396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per trip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41401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stop costs acceleration time in dense mixed traffic of cars, autos and two-wheelers.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10144" y="141732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4464" y="1572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2-5 min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1396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data lag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241401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traffic describes the recent past, so a blockage that formed minutes ago is invisible to it.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answers fall short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40480"/>
            <a:ext cx="55778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and GPS preemption trigger at a fixed distance: too early when the road is clear, too late behind a long queue.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apps route on crowd-sourced traffic alone and cannot see the road in front of the vehicle.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coordinates the signals along the route, nor repairs the cross-street queues it creates.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3429000"/>
            <a:ext cx="5148072" cy="2377440"/>
          </a:xfrm>
          <a:prstGeom prst="roundRect">
            <a:avLst>
              <a:gd name="adj" fmla="val 2692"/>
            </a:avLst>
          </a:prstGeom>
          <a:solidFill>
            <a:srgbClr val="EAF1EC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84848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Chennai case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977640"/>
            <a:ext cx="45720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area: Thousand Lights, around Apollo Hospitals on Greams Road.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signalised grid with parallel arterials, so a real routing choice exists.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Mixed, lane-less traffic: autos and two-wheelers dominate and generic detectors miss them.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figures are measured in our own prototype runs, not quoted from vendors.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requirement traces to a gap we found in the literature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91840" cy="4343400"/>
          </a:xfrm>
          <a:prstGeom prst="roundRect">
            <a:avLst>
              <a:gd name="adj" fmla="val 1944"/>
            </a:avLst>
          </a:prstGeom>
          <a:solidFill>
            <a:srgbClr val="EAF1EC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gathered them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920240"/>
            <a:ext cx="278892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generations of preemption: optical, GPS and cloud, standards-based V2X.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commercial and municipal systems studied for architecture, not marketing claims.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NTCIP 1202 and 1211, SAE J2735 and J2945/B, IEEE 1609.2.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work: queue-discharge preemption, EMVLight routing, EMGLight recovery.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49834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8 functional and 6 non-functional requirements, each owned by one module.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1371600"/>
          <a:ext cx="7571232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3246120"/>
                <a:gridCol w="135331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in current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it created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Fixed-distance trigger wastes cross-street green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FR6  Trigger from queue-clearance time, not 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traffic data is minutes 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FR3  Detect queue and blockage within 150 m onboard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perception/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sources disagree and nothing arbitrates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FR4  Fuse both by confidence, not by preference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Drivers deviate and reservations go stale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FR5  Replan continuously, cancel obsolete reservations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traffic left disrupted after passage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FR7  Queue-debt recovery before normal coordination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models given direct control of lamps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NFR1  Deterministic safety kernel owns all transitions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and simulator lock-in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NFR5  One schema, swappable SUMO, CARLA and Google adapters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SCOPE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must prove, and what it deliberately leaves out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55778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 Estimate and forecast per-road traffic from probe data, 5 to 30 minutes ahead.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 Detect queues and blockages from ambulance camera and LiDAR within 150 m.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 Fuse both sources by confidence and route on the traffic predicted at arrival time.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 Clear the next two or three junctions just in time, then repair the cross-street queues.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B5E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42569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433425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fusing onboard perception with macro forecasts cut travel time when data is stale?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88289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B5E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99262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43584" y="490118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just-in-time preemption beat fixed-distance on both ambulance and cross-street delay?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449824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B5E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55955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43584" y="54681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does crowd-probe adoption (5, 10, 30 percent) change route quality?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1371600"/>
            <a:ext cx="5148072" cy="2240280"/>
          </a:xfrm>
          <a:prstGeom prst="roundRect">
            <a:avLst>
              <a:gd name="adj" fmla="val 285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84848" y="1536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1901952"/>
            <a:ext cx="45720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software stack: simulation, ML, fusion, routing, signal control, web app.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for traffic, CARLA for camera and LiDAR, Google Routes for a live map mode.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B0 to B5 evaluation with recorded, repeatable runs.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749040"/>
            <a:ext cx="5148072" cy="2194560"/>
          </a:xfrm>
          <a:prstGeom prst="roundRect">
            <a:avLst>
              <a:gd name="adj" fmla="val 2917"/>
            </a:avLst>
          </a:prstGeom>
          <a:solidFill>
            <a:srgbClr val="EAF1EC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84848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4279392"/>
            <a:ext cx="45720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hardware and no control of any public traffic signal.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V2X radio stack or certificate authority; the message design allows it later.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civilian mobile app; crowd probes are simulated or come from Google at run time.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one contract, swappable data sources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181051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Crowd-GPS probes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05740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GPS noise, dropout, upload lag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274320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Routes API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99008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duration against static duration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367588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sensors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" y="392277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 camera and 32-channel LiDAR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090672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13716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169164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75304" y="181051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75304" y="205740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map-match probes to per-road speed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29000" y="2624328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75304" y="274320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75304" y="299008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and graph baselines, 5 to 30 min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29000" y="3557016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75304" y="367588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575304" y="392277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tracks, blockage, 1 to 3 s prediction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971032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13716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69164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15875">
            <a:solidFill>
              <a:srgbClr val="1B5E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55664" y="181051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engine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55664" y="205740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inverse-variance travel time and confidence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2624328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15875">
            <a:solidFill>
              <a:srgbClr val="1B5E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55664" y="274320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engine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55664" y="299008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path, hysteresis reroute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3557016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15875">
            <a:solidFill>
              <a:srgbClr val="1B5E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55664" y="367588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controller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55664" y="392277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trigger and safety state machine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851392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9189720" y="13716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AND SHOW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89720" y="169164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36024" y="181051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control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336024" y="205740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written only through the safety kernel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189720" y="2624328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336024" y="274320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Recorder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336024" y="299008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stored with its seed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89720" y="3557016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36024" y="367588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336024" y="3922776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Replay, Cab, Results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470916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EAF1EC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41248" y="4892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 boundary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291840" y="4892040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objects never cross schema/models.py. The decision modules cannot tell whether a road observation came from the built-in simulator, SUMO, CARLA or Google, so the code we evaluate is the code that would later be deployed. An adapter missing its dependency fails loudly instead of substituting invented data.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TECHNICAL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views of the same road, weighted by trust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 .  whole city, minutes old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901952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vehicles report position and speed with noise, dropout and upload lag.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a parameter, so accuracy can be measured at 5, 10 and 30 percent.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Routes supplies the same signal in live-map mode, at run time only.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  .  next 150 m, seconds old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901952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detections are tracked, so a vehicle stopped beyond three seconds becomes a queue.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clusters confirm distance and the tail of the queue.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Short-horizon prediction answers whether a gap opens in the next one to three seconds.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0C131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95020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9E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 ( t_macro / var_macro  +  t_onboard / var_onboard )  /  ( 1 / var_macro  +  1 / var_onboard 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35254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Inverse-variance fusion: each source contributes in proportion to how certain it 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9834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variance grows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5230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forecast horizon and with the age of the feed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79392" y="484632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5424" y="49834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variance grows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35424" y="5230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distance ahead and with lower detection confidence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10144" y="484632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66176" y="49834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override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66176" y="52303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blockage above 0.9 confidence marks the road near-closed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part a navigation app cannot do: the 150 m in front of the ambulance is data nobody else has.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ALGORITHM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as late as is safe, then give the cross streets their green back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0C13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9616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E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T_clear =  T_startup  +  Q / s  +  T_transition  +  T_margin            act when   T_ambulance  &lt;=  T_clear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65376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is the queue ahead in PCU from the fusion engine  .  s is the discharge rate  .  T_transition is amber plus all-red  .  T_margin is twice the ETA uncertainty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569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6207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green for the ambulance: hold it, inside the maximum-green limit.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242316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569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green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86207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phase running: end it through amber and all-red, then serve.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242316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569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Pre-clear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286207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 ahead: start early enough to empty it before arrival.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97696" y="242316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98864" y="2569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286207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falls on a natural green. Knowing when not to intervene matters.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safety state machine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416552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EAF1EC"/>
          </a:solidFill>
          <a:ln w="6350">
            <a:solidFill>
              <a:srgbClr val="D7E1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5171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4480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48840" y="4416552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EAF1EC"/>
          </a:solidFill>
          <a:ln w="6350">
            <a:solidFill>
              <a:srgbClr val="D7E1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48840" y="45171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4480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49040" y="4416552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1B5E3A"/>
          </a:solidFill>
          <a:ln w="6350">
            <a:solidFill>
              <a:srgbClr val="D7E1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49040" y="45171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PRE-CLEAR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4480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4416552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1B5E3A"/>
          </a:solidFill>
          <a:ln w="6350">
            <a:solidFill>
              <a:srgbClr val="D7E1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49240" y="45171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TRANSITION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4480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4416552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1B5E3A"/>
          </a:solidFill>
          <a:ln w="6350">
            <a:solidFill>
              <a:srgbClr val="D7E1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49440" y="45171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SERVICE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366760" y="4480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49640" y="4416552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EAF1EC"/>
          </a:solidFill>
          <a:ln w="6350">
            <a:solidFill>
              <a:srgbClr val="D7E1D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49640" y="45171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PASSED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9966960" y="4480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149840" y="4416552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EAF1EC"/>
          </a:solidFill>
          <a:ln w="6350">
            <a:solidFill>
              <a:srgbClr val="D7E1D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149840" y="45171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029200"/>
            <a:ext cx="110642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green, amber and all-red are never shortened, in any state.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reservation expires after 3 s unless renewed, and a watchdog ends any preemption that overruns.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greens are impossible by construction, and every recorded run asserts it: 0 violations in 180 runs.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proposes; the state machine disposes. No model writes a signal phase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AND TOOL SELECTION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for evidence and cost, not familiarity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31720"/>
                <a:gridCol w="2194560"/>
                <a:gridCol w="47365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considered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simulation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Eclipse SUMO with TraCI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VISSIM, Aimsun, MATSim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and scriptable, has an emergency-vehicle rescue-lane model, and a CARLA bridge.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simulation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 0.9.x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AirSim (retired), rendering inside SUMO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camera and LiDAR frames, co-simulates with SUMO, and fits our 8 GB GPU.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Ultralytics YOLO with ByteTrack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R-CNN, RT-DETR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time on one GPU and straightforward to fine-tune on Indian classes.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Driving 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COCO, BDD100K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 autorickshaws and lane-less traffic, which western sets do not.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WaveNet or STGCN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ARIMA, per-road LSTM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Congestion propagates along connected roads, which a graph model represents directly.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with Pydantic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Flask, Django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WebSocket streaming and a typed schema shared with the browser.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with MapLibre GL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 JavaScript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licence cost or key in the browser, and vector layers render our own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with Parquet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Zero-setup reproducibility: every run carries its seed and baseline.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355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is free for academic use, runs on one laptop with an 8 GB GPU, and keeps the work reproducible by a reviewer.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PROTOTYPE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vertical slice already runs end to end, not a set of stubs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Python modules plus a React app: simulation, probes, forecasting, perception, fusion, routing, corridor, recorder, adapters, API and experiments.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plus a 5 Hz WebSocket stream; the browser renders live routes, reservations and the decision log.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seeded experiment runner writes every run to SQLite, so any result on screen can be reproduced.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SUMO, CARLA and Google adapters are written and report their own readiness instead of faking data.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automated tests pass, with lint and build wired into GitHub Actions.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4224528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3525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2,240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7914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4224528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43525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47914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248656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3766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815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workspaces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5248656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53766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5815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runs</a:t>
            </a:r>
            <a:endParaRPr lang="en-US" sz="1100" dirty="0"/>
          </a:p>
        </p:txBody>
      </p:sp>
      <p:pic>
        <p:nvPicPr>
          <p:cNvPr id="18" name="Image 0" descr="shots/live_normal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5742432" cy="359359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897880" y="5138928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control room: fused speeds, route options with ETA, the next reservations, and the reason recorded for every decision.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asks for roughly 20 percent. We are past that: a walking skeleton of every module is live and tested.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accident: when the map is wrong</a:t>
            </a:r>
            <a:endParaRPr lang="en-US" sz="2900" dirty="0"/>
          </a:p>
        </p:txBody>
      </p:sp>
      <p:pic>
        <p:nvPicPr>
          <p:cNvPr id="5" name="Image 0" descr="shots/live_accident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417320"/>
            <a:ext cx="365760" cy="36576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0" y="14996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13990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forecast picks Route A, and the corridor starts reserving junctions on 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2093976"/>
            <a:ext cx="365760" cy="36576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21762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20756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two-lane blockage forms. The crowd feed still reports the road as clear.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2770632"/>
            <a:ext cx="365760" cy="36576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285292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275234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perception sees stopped vehicles ahead, so fusion marks the road near-closed.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3447288"/>
            <a:ext cx="365760" cy="36576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352958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3429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 is selected and the stale reservations on Route A are cancelled.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0" y="4123944"/>
            <a:ext cx="365760" cy="36576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0" y="420624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410565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Junctions on Route B pre-clear their queues just before arrival.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72400" y="4892040"/>
            <a:ext cx="3867912" cy="960120"/>
          </a:xfrm>
          <a:prstGeom prst="roundRect">
            <a:avLst>
              <a:gd name="adj" fmla="val 6667"/>
            </a:avLst>
          </a:prstGeom>
          <a:solidFill>
            <a:srgbClr val="0C131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01000" y="5010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log, taken from the running app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524865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"Rerouted to Route B: two-lane blockage, confidence 0.93 - road marked near-closed"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55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reroute reaction time: 0.6 s from detection to a new route with the old reservations cancelled.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WORKSPACES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seed, three systems, one honest comparison</a:t>
            </a:r>
            <a:endParaRPr lang="en-US" sz="2900" dirty="0"/>
          </a:p>
        </p:txBody>
      </p:sp>
      <p:pic>
        <p:nvPicPr>
          <p:cNvPr id="5" name="Image 0" descr="shots/replay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417320"/>
            <a:ext cx="4279392" cy="2011680"/>
          </a:xfrm>
          <a:prstGeom prst="roundRect">
            <a:avLst>
              <a:gd name="adj" fmla="val 3182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16952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Ghost race replay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616952" y="1938528"/>
            <a:ext cx="3749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ambulances, identical demand, incident and random seed.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baseline capabilities differ, so the gap is the system, not luck.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7: B5 finishes in 164.9 s against 329.9 s with no system.</a:t>
            </a:r>
            <a:endParaRPr lang="en-US" sz="1100" dirty="0"/>
          </a:p>
        </p:txBody>
      </p:sp>
      <p:pic>
        <p:nvPicPr>
          <p:cNvPr id="9" name="Image 1" descr="shots/cab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657600"/>
            <a:ext cx="4279392" cy="18928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60920" y="5623560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cab view: next manoeuvre, next signal state, perception confidence and the gap-opening hint.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seeded runs: six baselines across six scenarios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69494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46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Cross-street delay caused by preemption:    112 s fixed-distance    to    63 s just-in-time    to    39 s with recovery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26680" y="1417320"/>
            <a:ext cx="3913632" cy="1371600"/>
          </a:xfrm>
          <a:prstGeom prst="roundRect">
            <a:avLst>
              <a:gd name="adj" fmla="val 4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82712" y="1563624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982712" y="224028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 the hidden-accident case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24780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323.7 s with no system, 163.8 s with B5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26680" y="2926080"/>
            <a:ext cx="3913632" cy="1371600"/>
          </a:xfrm>
          <a:prstGeom prst="roundRect">
            <a:avLst>
              <a:gd name="adj" fmla="val 4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82712" y="3072384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 to 96%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7982712" y="374904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on arrival, B0 to B5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82712" y="398678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per trip fall from 1.87 to 0.00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26680" y="4434840"/>
            <a:ext cx="3913632" cy="1371600"/>
          </a:xfrm>
          <a:prstGeom prst="roundRect">
            <a:avLst>
              <a:gd name="adj" fmla="val 46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82712" y="4581144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7982712" y="525780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Conflicting-green events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982712" y="54955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Asserted in all 180 recorded runs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55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built-in mesoscopic runner: 5 seeds x 6 scenarios x 6 baselines. Transport claims will be re-measured on the verified Chennai SUMO network with 20 or more seeds before Review III. Targets in the plan remain targets.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FEASIBILITY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genuinely new, and why three people can finish it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514600"/>
                <a:gridCol w="2606040"/>
                <a:gridCol w="3822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student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or ETA 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Queue-clearance time, computed per junction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 or fleet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sources fused by 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incident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for the feed to 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 detection, reroute in 0.6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traffic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to the normal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Queue-debt recovery, and it is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of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the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and opaque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only, safety kernel decides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demo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aggregates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seeded runs, each replayable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EAF1EC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5120640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cost is zero: everything runs on one laptop with an 8 GB GPU.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are free for academic use, and the core demo needs no API key.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riskiest integration, CARLA with SUMO, has a built-in town map as fallback.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4663440"/>
            <a:ext cx="5440680" cy="1554480"/>
          </a:xfrm>
          <a:prstGeom prst="roundRect">
            <a:avLst>
              <a:gd name="adj" fmla="val 4118"/>
            </a:avLst>
          </a:prstGeom>
          <a:solidFill>
            <a:srgbClr val="EAF1EC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lines if we fall behind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5120640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sequence-model rung of the forecaster ladder first.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Google live-map mode, then the second-hospital feature.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 last: keep one showcase run rather than every scenario.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Thirty-six weeks, with the walking skeleton already standing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691640" cy="1508760"/>
          </a:xfrm>
          <a:prstGeom prst="roundRect">
            <a:avLst>
              <a:gd name="adj" fmla="val 3636"/>
            </a:avLst>
          </a:prstGeom>
          <a:solidFill>
            <a:srgbClr val="1B5E3A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5361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F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W1-3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2677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8D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spec, schema, repo, CI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04872" y="1417320"/>
            <a:ext cx="1691640" cy="150876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1176" y="15361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W4-9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551176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Chennai twin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51176" y="22677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clean-up, demand, probes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61104" y="1417320"/>
            <a:ext cx="1691640" cy="150876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07408" y="15361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W10-16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07408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22677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forecaster, routing, Live page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17336" y="1417320"/>
            <a:ext cx="1691640" cy="150876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5361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W17-23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Corridor, CARLA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2677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JIT, safety kernel, co-simulation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73568" y="1417320"/>
            <a:ext cx="1691640" cy="150876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9872" y="15361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W24-29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119872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Showcase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19872" y="22677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replay, results pages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29800" y="1417320"/>
            <a:ext cx="1691640" cy="1508760"/>
          </a:xfrm>
          <a:prstGeom prst="roundRect">
            <a:avLst>
              <a:gd name="adj" fmla="val 363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76104" y="15361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W30-36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976104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976104" y="22677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20-seed matrix, report, viva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 today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493008"/>
            <a:ext cx="55778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are complete, and a vertical slice of every later phase already runs.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order was deliberate: integrate first, then deepen each module in place.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was frozen in week 3, so the three workstreams now move independently.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3063240"/>
            <a:ext cx="5148072" cy="2788920"/>
          </a:xfrm>
          <a:prstGeom prst="roundRect">
            <a:avLst>
              <a:gd name="adj" fmla="val 2295"/>
            </a:avLst>
          </a:prstGeom>
          <a:solidFill>
            <a:srgbClr val="EAF1EC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84848" y="3227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milestones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784848" y="3611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W23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35935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Chennai SUMO network, CARLA frames feeding perception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784848" y="4160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W29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41422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freeze: all six scenarios recorded and replayable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784848" y="4709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W34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46908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Twenty-seed matrix, ablations, report and paper draft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784848" y="5257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W36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183880" y="52395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and viva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AND INDIVIDUAL CONTRIBUTION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owners, disjoint modules, one shared contract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0440" cy="3429000"/>
          </a:xfrm>
          <a:prstGeom prst="roundRect">
            <a:avLst>
              <a:gd name="adj" fmla="val 18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572768"/>
            <a:ext cx="457200" cy="45720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16824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591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&lt;Member 1&gt;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18562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and signals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2677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sim/  .  corridor/  .  experiments/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651760"/>
            <a:ext cx="301752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network and demand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generator and virtual sensor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trigger, safety kernel, recovery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experiment runner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1371600"/>
            <a:ext cx="3520440" cy="3429000"/>
          </a:xfrm>
          <a:prstGeom prst="roundRect">
            <a:avLst>
              <a:gd name="adj" fmla="val 18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5424" y="1572768"/>
            <a:ext cx="457200" cy="45720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35424" y="16824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1591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&lt;Member 2&gt;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8562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and routing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35424" y="22677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forecast/  .  fusion/  .  routing/  .  api/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2651760"/>
            <a:ext cx="301752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 ladder and metrics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Inverse-variance fusion model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routing and hysteresis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services and schema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10144" y="1371600"/>
            <a:ext cx="3520440" cy="3429000"/>
          </a:xfrm>
          <a:prstGeom prst="roundRect">
            <a:avLst>
              <a:gd name="adj" fmla="val 1867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6176" y="1572768"/>
            <a:ext cx="457200" cy="45720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66176" y="16824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851392" y="1591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&lt;Member 3&gt;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851392" y="18562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Perception, CARLA and web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66176" y="22677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perception/  .  adapters/  .  web/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66176" y="2651760"/>
            <a:ext cx="301752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tracking, blockage logic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 sensor rig and co-simulation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Replay, Cab and Results pages</a:t>
            </a:r>
            <a:endParaRPr lang="en-US" sz="11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demo runs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EAF1EC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5303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discipline:  weekly integration session  .  one versioned schema  .  every module has tests  .  each member presents and defends their own modules today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here to Review III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6949440" cy="859536"/>
          </a:xfrm>
          <a:prstGeom prst="roundRect">
            <a:avLst>
              <a:gd name="adj" fmla="val 7447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64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Chennai network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03911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junction, signal timing and turn restriction by hand, then calibrate demand.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633472"/>
            <a:ext cx="6949440" cy="859536"/>
          </a:xfrm>
          <a:prstGeom prst="roundRect">
            <a:avLst>
              <a:gd name="adj" fmla="val 7447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523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real models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2666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forecaster on benchmark data plus simulated history, detector fine-tuned on Indian classes.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621024"/>
            <a:ext cx="6949440" cy="859536"/>
          </a:xfrm>
          <a:prstGeom prst="roundRect">
            <a:avLst>
              <a:gd name="adj" fmla="val 7447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7398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CARLA into the loop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01421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camera and LiDAR feeding the same perception code, recorded for the showcase.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4608576"/>
            <a:ext cx="6949440" cy="859536"/>
          </a:xfrm>
          <a:prstGeom prst="roundRect">
            <a:avLst>
              <a:gd name="adj" fmla="val 7447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7274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matrix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00176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seeds per cell, ablations with fusion off, and the adoption sweep for RQ3.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7249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 Each member answers for the modules they own.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3749040"/>
            <a:ext cx="3291840" cy="1280160"/>
          </a:xfrm>
          <a:prstGeom prst="roundRect">
            <a:avLst>
              <a:gd name="adj" fmla="val 5000"/>
            </a:avLst>
          </a:prstGeom>
          <a:solidFill>
            <a:srgbClr val="16241C"/>
          </a:solidFill>
          <a:ln w="9525">
            <a:solidFill>
              <a:srgbClr val="3348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58200" y="39136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ready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41879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F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Replay, Cab and Results, with the hidden-accident control on the Live page.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9436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ResQ  .  IDP Review II  .  23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we expect, and the short answers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5636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this different from Google Maps?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9110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cannot see the road ahead of the ambulance, cannot forecast per road for the arrival moment, and cannot hold a signal.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5636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5 to 10 percent probe adoption enough?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19110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not vehicle count, is the estimator, and adoption is a measured parameter in the matrix. That is RQ3.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31638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camera is wrong?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5112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weighting limits its influence, the macro forecast still covers the route, and the safety kernel is unaffected.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0175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31638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Could this run on a real junction?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35112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us. Deployment needs an approved controller interface, road-authority permission and a shadow-mode trial first.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7640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reinforcement learning end to end?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114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safety-assured. RL may later tune recovery timing inside the limits the state machine enforces.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61772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2F6F3"/>
          </a:solidFill>
          <a:ln w="9525">
            <a:solidFill>
              <a:srgbClr val="D7E1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47640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know the results are real?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5111496"/>
            <a:ext cx="4892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carries a seed and a baseline, all 180 are stored, and the replay reproduces them exactly.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00584" cy="100584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ambulance travel time by scenario, in seconds, 5 seeds each</a:t>
            </a:r>
            <a:endParaRPr lang="en-US" sz="2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1463040"/>
                <a:gridCol w="1463040"/>
                <a:gridCol w="1463040"/>
                <a:gridCol w="1554480"/>
                <a:gridCol w="137160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 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macro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 fixed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 fused + fixed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B4 JIT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B5 JIT + recovery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 peak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accident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macro feed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degraded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scenarios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212080"/>
            <a:ext cx="110642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and B5 share a travel time by design: recovery repairs cross traffic after the ambulance has passed, and cross-street delay falls from 63 s to 39 s.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tracks B0 because macro-only routing cannot see an incident the feed has not yet reported.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2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Camera-degraded currently mirrors evening peak in the built-in runner; separating its parameters is a Phase-2 task.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runs/resq_green.sqlite3, 180 recorded runs, regenerated with: uv run python -m experiments.runner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ResQ - IDP Review II</dc:title>
  <dc:subject>PptxGenJS Presentation</dc:subject>
  <dc:creator>ResQ team</dc:creator>
  <cp:lastModifiedBy>ResQ team</cp:lastModifiedBy>
  <cp:revision>1</cp:revision>
  <dcterms:created xsi:type="dcterms:W3CDTF">2026-09-21T16:12:50Z</dcterms:created>
  <dcterms:modified xsi:type="dcterms:W3CDTF">2026-09-21T16:12:50Z</dcterms:modified>
</cp:coreProperties>
</file>